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1638fa7b0e4988" /><Relationship Type="http://schemas.openxmlformats.org/officeDocument/2006/relationships/extended-properties" Target="/docProps/app.xml" Id="R5826a41424ad4b30" /><Relationship Type="http://schemas.openxmlformats.org/officeDocument/2006/relationships/officeDocument" Target="/ppt/presentation.xml" Id="R408d0dc6faac47b0" /></Relationships>
</file>

<file path=ppt/presentation.xml><?xml version="1.0" encoding="utf-8"?>
<p:presentation xmlns:p="http://schemas.openxmlformats.org/presentationml/2006/main">
  <p:sldMasterIdLst>
    <p:sldMasterId xmlns:r="http://schemas.openxmlformats.org/officeDocument/2006/relationships" id="2147483648" r:id="R5707095cd5334303"/>
  </p:sldMasterIdLst>
  <p:notesMasterIdLst>
    <p:notesMasterId xmlns:r="http://schemas.openxmlformats.org/officeDocument/2006/relationships" r:id="R14f556dd23b04a10"/>
  </p:notesMasterIdLst>
  <p:sldIdLst>
    <p:sldId xmlns:r="http://schemas.openxmlformats.org/officeDocument/2006/relationships" id="256" r:id="R8d7389f1a02c430d"/>
    <p:sldId xmlns:r="http://schemas.openxmlformats.org/officeDocument/2006/relationships" id="257" r:id="R3aabde255dd343b8"/>
    <p:sldId xmlns:r="http://schemas.openxmlformats.org/officeDocument/2006/relationships" id="258" r:id="Rd8bd4eaa9b534c28"/>
    <p:sldId xmlns:r="http://schemas.openxmlformats.org/officeDocument/2006/relationships" id="259" r:id="R54fdf9a07b5e465d"/>
    <p:sldId xmlns:r="http://schemas.openxmlformats.org/officeDocument/2006/relationships" id="260" r:id="Rb722f362e3964104"/>
    <p:sldId xmlns:r="http://schemas.openxmlformats.org/officeDocument/2006/relationships" id="261" r:id="R6dfe76db01274b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d28e8438414b52" /><Relationship Type="http://schemas.openxmlformats.org/officeDocument/2006/relationships/slideMaster" Target="/ppt/slideMasters/slideMaster1.xml" Id="R5707095cd5334303" /><Relationship Type="http://schemas.openxmlformats.org/officeDocument/2006/relationships/notesMaster" Target="/ppt/notesMasters/notesMaster1.xml" Id="R14f556dd23b04a10" /><Relationship Type="http://schemas.openxmlformats.org/officeDocument/2006/relationships/presProps" Target="/ppt/presProps.xml" Id="Rfaaf2d5634cb4483" /><Relationship Type="http://schemas.openxmlformats.org/officeDocument/2006/relationships/tableStyles" Target="/ppt/tableStyles.xml" Id="R55756d1b0a264820" /><Relationship Type="http://schemas.openxmlformats.org/officeDocument/2006/relationships/slide" Target="/ppt/slides/slide1.xml" Id="R8d7389f1a02c430d" /><Relationship Type="http://schemas.openxmlformats.org/officeDocument/2006/relationships/slide" Target="/ppt/slides/slide2.xml" Id="R3aabde255dd343b8" /><Relationship Type="http://schemas.openxmlformats.org/officeDocument/2006/relationships/slide" Target="/ppt/slides/slide3.xml" Id="Rd8bd4eaa9b534c28" /><Relationship Type="http://schemas.openxmlformats.org/officeDocument/2006/relationships/slide" Target="/ppt/slides/slide4.xml" Id="R54fdf9a07b5e465d" /><Relationship Type="http://schemas.openxmlformats.org/officeDocument/2006/relationships/slide" Target="/ppt/slides/slide5.xml" Id="Rb722f362e3964104" /><Relationship Type="http://schemas.openxmlformats.org/officeDocument/2006/relationships/slide" Target="/ppt/slides/slide6.xml" Id="R6dfe76db01274b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0f948002a643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a517d5d69148ca" /><Relationship Type="http://schemas.openxmlformats.org/officeDocument/2006/relationships/notesMaster" Target="/ppt/notesMasters/notesMaster1.xml" Id="Ra7c47fdde6704b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d7ff5cea814dea" /><Relationship Type="http://schemas.openxmlformats.org/officeDocument/2006/relationships/notesMaster" Target="/ppt/notesMasters/notesMaster1.xml" Id="Radd7cf0957e74e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f8b7676bf142ac" /><Relationship Type="http://schemas.openxmlformats.org/officeDocument/2006/relationships/notesMaster" Target="/ppt/notesMasters/notesMaster1.xml" Id="R32dfc03f8a9248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b7df7f2f5e4fd4" /><Relationship Type="http://schemas.openxmlformats.org/officeDocument/2006/relationships/notesMaster" Target="/ppt/notesMasters/notesMaster1.xml" Id="R937aa9d4acab4e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c4a02ef6ea4403" /><Relationship Type="http://schemas.openxmlformats.org/officeDocument/2006/relationships/notesMaster" Target="/ppt/notesMasters/notesMaster1.xml" Id="R8dc082556c8c42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7c57f60d8845d8" /><Relationship Type="http://schemas.openxmlformats.org/officeDocument/2006/relationships/notesMaster" Target="/ppt/notesMasters/notesMaster1.xml" Id="Ra99c97b11d2a4a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We chose Case 3 from KRU and Qostanai Hub. Our prototype brings local webcam signals and exam-window events into one review timeline. The captain owns engineering and this pitch. Our second teammate owns testing and demonstration. A person reviews each alert and decides what it means.</a:t>
            </a:r>
          </a:p>
          <a:p xmlns:a="http://schemas.openxmlformats.org/drawingml/2006/main">
            <a:r>
              <a:t>Sources: docs/CASE_AND_RULES.md, docs/TEAM_PLAN.md. These roles reflect the user’s latest instruction. No third member, personal names or university endorsement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0:20–0:45. YOLO detects phones. MediaPipe supplies face counts and head and iris features. Signals must persist before entering the timeline. Electron restricts navigation and clipboard use, with an optional Windows keyboard hook. Phone photography and control of all outside applications remain partial requirements.</a:t>
            </a:r>
          </a:p>
          <a:p xmlns:a="http://schemas.openxmlformats.org/drawingml/2006/main">
            <a:r>
              <a:t>Sources: supplied Russian Case 3 brief, summarized in docs/CASE_AND_RULES.md; backend/vision.py; backend/rules.py; desktop/policy.cjs; backend/windows_guard.py. All implemented detectors still require participant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0:45–1:10. Python processes camera frames on the laptop. Pretrained YOLO and MediaPipe feed sustained-signal rules. Electron displays the exam and review timeline through a local API. Frames stay in memory. JSON stores event metadata and guided-test observations. Our contribution is this integration, calibration and recoverable workflow.</a:t>
            </a:r>
          </a:p>
          <a:p xmlns:a="http://schemas.openxmlformats.org/drawingml/2006/main">
            <a:r>
              <a:t>Sources: docs/ARCHITECTURE.md; backend/app.py; backend/vision.py; backend/validation.py; desktop/main.cjs. Diagram is a simplified component flow: Electron also receives preview frames from RAM and logs environment events. No cloud inference is implemented. Full offline operation still needs a human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1:10–2:15. Use the currently verified simulation run. Start a simulation before this slide. Say: This is the actual prototype in simulation. Its vision signals are scripted, and the camera is off. Show phone-visible and phone-raised timeline entries, End or Ctrl+Shift+Q, and the downloaded ended-session JSON. Say: Our checks passed: 26 Python tests, 2 desktop policy tests, API integration and Electron recovery/export checks. Camera faults use fake hardware. We have zero recorded human webcam trials, so accuracy and live latency remain unmeasured.</a:t>
            </a:r>
          </a:p>
          <a:p xmlns:a="http://schemas.openxmlformats.org/drawingml/2006/main">
            <a:r>
              <a:t>Suggested 65-second sequence: 0–10 show mode and scripted phone events; 10–25 show timeline and source labels; 25–40 release protection and export; 40–50 show ended JSON; 50–65 state results and limits. This scripted sequence needs human rehearsal. If a human test fails, say what failed.</a:t>
            </a:r>
          </a:p>
          <a:p xmlns:a="http://schemas.openxmlformats.org/drawingml/2006/main">
            <a:r>
              <a:t>Sources: docs/RELEASE_REVIEW.md; docs/VALIDATION.md; output/qa/electron-smoke.json; scripts/check_api.py; tests/. Screenshot captured by the actual Electron smoke test on 8 October 2026 with no camera access. UI values and confidence are simulated. No physical Windows keys were pressed by these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2:15–2:40. We propose five volunteers on two university Windows laptops, with a teacher supervising twenty-minute practice sessions. We would measure scenario misses, false alerts, latency and successful release, then compare reviewer effort. Reduced footage transfer and faster triage are hypotheses. This pilot needs university agreement, accommodations and a retention policy.</a:t>
            </a:r>
          </a:p>
          <a:p xmlns:a="http://schemas.openxmlformats.org/drawingml/2006/main">
            <a:r>
              <a:t>Source: docs/PILOT_PLAN.md. Numbers are proposed design parameters, not enrollment, deployment or performance results. Hardware baseline is the development i5-1135G7 laptop with approximately 8 GB RAM, not a validated minimum. See the pilot proposal for managed Windows edition requirements and primary Microsoft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2:40–3:00. Gaze remains approximate, and a raised phone cannot establish photography. Complete OS lockdown is unfinished. We disclose pretrained YOLO, MediaPipe, the software libraries and Codex/ChatGPT assistance. Our next step is human validation, followed by a supervised pilot and managed exam policies.</a:t>
            </a:r>
          </a:p>
          <a:p xmlns:a="http://schemas.openxmlformats.org/drawingml/2006/main">
            <a:r>
              <a:t>Sources: docs/ARCHITECTURE.md; docs/PILOT_PLAN.md; requirements-lock-windows.txt; package-lock.json; https://docs.ultralytics.com/modes/predict/ ; https://ai.google.dev/edge/mediapipe/solutions/vision/face_landmarker/python ; https://www.electronjs.org/docs/latest/api/browser-window ; https://learn.microsoft.com/en-us/windows/configuration/assigned-access/ . No custom model training, completed university pilot, certification or quantified savings are claimed. Review third-party licenses before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61c1df08f347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ccbae5f76e48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63e3d5c51d4e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904fc3eac441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784847371748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1d51258bad45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56D0D4-63B0-472B-802C-4ABBC98CE3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4E5E50-6A50-4CEE-AFF6-3500D877B78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BAC964-35A0-4116-8071-D2F146E0433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12288A-8F29-479B-8FB7-71C0E49C07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D7CB39-9C08-454A-A257-6ED3E90019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5521D9-77CB-4FAC-91C2-D54D4AFCF8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628E7C-77AC-4BEF-AC90-86BE96D930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6ACC71-83DD-49A1-944B-F28944BD671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6C1985-C172-465E-A1FB-26EC3CF051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AF1B2D-F474-4D55-A20A-AF95AB7131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953bc2b50547c9" /><Relationship Type="http://schemas.openxmlformats.org/officeDocument/2006/relationships/slideLayout" Target="/ppt/slideLayouts/slideLayout1.xml" Id="R8c8c64fc478446b4" /><Relationship Type="http://schemas.openxmlformats.org/officeDocument/2006/relationships/slideLayout" Target="/ppt/slideLayouts/slideLayout2.xml" Id="R1c62fe0b977d48f9" /><Relationship Type="http://schemas.openxmlformats.org/officeDocument/2006/relationships/slideLayout" Target="/ppt/slideLayouts/slideLayout3.xml" Id="R5fc3a343dd874e53" /><Relationship Type="http://schemas.openxmlformats.org/officeDocument/2006/relationships/slideLayout" Target="/ppt/slideLayouts/slideLayout4.xml" Id="R469e882839ce4c35" /><Relationship Type="http://schemas.openxmlformats.org/officeDocument/2006/relationships/slideLayout" Target="/ppt/slideLayouts/slideLayout5.xml" Id="Rb57f5fbcfbec4ab6" /><Relationship Type="http://schemas.openxmlformats.org/officeDocument/2006/relationships/slideLayout" Target="/ppt/slideLayouts/slideLayout6.xml" Id="R867b2081756349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8c64fc478446b4"/>
    <p:sldLayoutId xmlns:r="http://schemas.openxmlformats.org/officeDocument/2006/relationships" id="2147483650" r:id="R1c62fe0b977d48f9"/>
    <p:sldLayoutId xmlns:r="http://schemas.openxmlformats.org/officeDocument/2006/relationships" id="2147483651" r:id="R5fc3a343dd874e53"/>
    <p:sldLayoutId xmlns:r="http://schemas.openxmlformats.org/officeDocument/2006/relationships" id="2147483652" r:id="R469e882839ce4c35"/>
    <p:sldLayoutId xmlns:r="http://schemas.openxmlformats.org/officeDocument/2006/relationships" id="2147483653" r:id="Rb57f5fbcfbec4ab6"/>
    <p:sldLayoutId xmlns:r="http://schemas.openxmlformats.org/officeDocument/2006/relationships" id="2147483654" r:id="R867b2081756349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f31d3418d246f4" /><Relationship Type="http://schemas.openxmlformats.org/officeDocument/2006/relationships/notesSlide" Target="/ppt/notesSlides/notesSlide1.xml" Id="R162b85f7330a4d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a024d6c8c24086" /><Relationship Type="http://schemas.openxmlformats.org/officeDocument/2006/relationships/notesSlide" Target="/ppt/notesSlides/notesSlide2.xml" Id="Rc3a6373cf7444b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9a8ab624134167" /><Relationship Type="http://schemas.openxmlformats.org/officeDocument/2006/relationships/notesSlide" Target="/ppt/notesSlides/notesSlide3.xml" Id="Rdafb0a98457647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945d0c66d24968" /><Relationship Type="http://schemas.openxmlformats.org/officeDocument/2006/relationships/image" Target="/ppt/media/image.png" Id="Rc4623590fde14f7b" /><Relationship Type="http://schemas.openxmlformats.org/officeDocument/2006/relationships/notesSlide" Target="/ppt/notesSlides/notesSlide4.xml" Id="R805f90c651964e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5d4a343fc34471" /><Relationship Type="http://schemas.openxmlformats.org/officeDocument/2006/relationships/notesSlide" Target="/ppt/notesSlides/notesSlide5.xml" Id="Rd22cfb6f32e040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bcaeee2c9394b4c" /><Relationship Type="http://schemas.openxmlformats.org/officeDocument/2006/relationships/notesSlide" Target="/ppt/notesSlides/notesSlide6.xml" Id="R7dd13912178843c9" /></Relationships>
</file>

<file path=ppt/slides/slide1.xml><?xml version="1.0" encoding="utf-8"?>
<p:sld xmlns:p="http://schemas.openxmlformats.org/presentationml/2006/main">
  <p:cSld>
    <p:bg>
      <p:bgPr>
        <a:solidFill xmlns:a="http://schemas.openxmlformats.org/drawingml/2006/main">
          <a:srgbClr val="101C1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D25EA1-A3BF-46A5-BA4F-D2E54D75E8F2}"/>
              </a:ext>
            </a:extLst>
          </p:cNvPr>
          <p:cNvSpPr>
            <a:spLocks xmlns:a="http://schemas.openxmlformats.org/drawingml/2006/main" noGrp="1"/>
          </p:cNvSpPr>
          <p:nvPr/>
        </p:nvSpPr>
        <p:spPr>
          <a:xfrm xmlns:a="http://schemas.openxmlformats.org/drawingml/2006/main">
            <a:off x="11239500" y="62579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BDC9BF"/>
                </a:solidFill>
                <a:latin typeface="Arial"/>
                <a:ea typeface="Arial"/>
                <a:cs typeface="Arial"/>
              </a:defRPr>
            </a:defPPr>
          </a:lstStyle>
          <a:p xmlns:a="http://schemas.openxmlformats.org/drawingml/2006/main">
            <a:pPr>
              <a:defRPr sz="1350" b="0">
                <a:solidFill>
                  <a:srgbClr val="BDC9BF"/>
                </a:solidFill>
                <a:latin typeface="Arial"/>
                <a:ea typeface="Arial"/>
                <a:cs typeface="Arial"/>
              </a:defRPr>
            </a:pPr>
            <a:r>
              <a:rPr sz="1350" b="0">
                <a:solidFill>
                  <a:srgbClr val="BDC9BF"/>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812F3B50-1C02-4CCA-9D2C-4821BDC46FDF}"/>
              </a:ext>
            </a:extLst>
          </p:cNvPr>
          <p:cNvSpPr>
            <a:spLocks xmlns:a="http://schemas.openxmlformats.org/drawingml/2006/main" noGrp="1"/>
          </p:cNvSpPr>
          <p:nvPr/>
        </p:nvSpPr>
        <p:spPr>
          <a:xfrm xmlns:a="http://schemas.openxmlformats.org/drawingml/2006/main">
            <a:off x="609600" y="590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1">
                <a:solidFill>
                  <a:srgbClr val="C2EF7A"/>
                </a:solidFill>
                <a:latin typeface="Arial"/>
                <a:ea typeface="Arial"/>
                <a:cs typeface="Arial"/>
              </a:defRPr>
            </a:defPPr>
          </a:lstStyle>
          <a:p xmlns:a="http://schemas.openxmlformats.org/drawingml/2006/main">
            <a:pPr>
              <a:defRPr sz="1725" b="1">
                <a:solidFill>
                  <a:srgbClr val="C2EF7A"/>
                </a:solidFill>
                <a:latin typeface="Arial"/>
                <a:ea typeface="Arial"/>
                <a:cs typeface="Arial"/>
              </a:defRPr>
            </a:pPr>
            <a:r>
              <a:rPr sz="1725" b="1">
                <a:solidFill>
                  <a:srgbClr val="C2EF7A"/>
                </a:solidFill>
                <a:latin typeface="Arial"/>
                <a:ea typeface="Arial"/>
                <a:cs typeface="Arial"/>
              </a:rPr>
              <a:t>CASE 3 / KRU AND QOSTANAI HUB</a:t>
            </a:r>
          </a:p>
        </p:txBody>
      </p:sp>
      <p:sp>
        <p:nvSpPr>
          <p:cNvPr id="3" name="">
            <a:extLst xmlns:a="http://schemas.openxmlformats.org/drawingml/2006/main">
              <a:ext uri="{FF2B5EF4-FFF2-40B4-BE49-F238E27FC236}">
                <a16:creationId xmlns:a16="http://schemas.microsoft.com/office/drawing/2014/main" id="{73F6DB76-52D6-4C28-9B36-39D7C15EEEE7}"/>
              </a:ext>
            </a:extLst>
          </p:cNvPr>
          <p:cNvSpPr>
            <a:spLocks xmlns:a="http://schemas.openxmlformats.org/drawingml/2006/main" noGrp="1"/>
          </p:cNvSpPr>
          <p:nvPr/>
        </p:nvSpPr>
        <p:spPr>
          <a:xfrm xmlns:a="http://schemas.openxmlformats.org/drawingml/2006/main">
            <a:off x="609600" y="1419225"/>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700" b="1">
                <a:solidFill>
                  <a:srgbClr val="F5F5EB"/>
                </a:solidFill>
                <a:latin typeface="Arial"/>
                <a:ea typeface="Arial"/>
                <a:cs typeface="Arial"/>
              </a:defRPr>
            </a:defPPr>
          </a:lstStyle>
          <a:p xmlns:a="http://schemas.openxmlformats.org/drawingml/2006/main">
            <a:pPr>
              <a:defRPr sz="5700" b="1">
                <a:solidFill>
                  <a:srgbClr val="F5F5EB"/>
                </a:solidFill>
                <a:latin typeface="Arial"/>
                <a:ea typeface="Arial"/>
                <a:cs typeface="Arial"/>
              </a:defRPr>
            </a:pPr>
            <a:r>
              <a:rPr sz="5700" b="1">
                <a:solidFill>
                  <a:srgbClr val="F5F5EB"/>
                </a:solidFill>
                <a:latin typeface="Arial"/>
                <a:ea typeface="Arial"/>
                <a:cs typeface="Arial"/>
              </a:rPr>
              <a:t>Qostanai</a:t>
            </a:r>
          </a:p>
          <a:p xmlns:a="http://schemas.openxmlformats.org/drawingml/2006/main">
            <a:pPr>
              <a:defRPr sz="5700" b="1">
                <a:solidFill>
                  <a:srgbClr val="F5F5EB"/>
                </a:solidFill>
                <a:latin typeface="Arial"/>
                <a:ea typeface="Arial"/>
                <a:cs typeface="Arial"/>
              </a:defRPr>
            </a:pPr>
            <a:r>
              <a:rPr sz="5700" b="1">
                <a:solidFill>
                  <a:srgbClr val="F5F5EB"/>
                </a:solidFill>
                <a:latin typeface="Arial"/>
                <a:ea typeface="Arial"/>
                <a:cs typeface="Arial"/>
              </a:rPr>
              <a:t>Local Proctor</a:t>
            </a:r>
          </a:p>
        </p:txBody>
      </p:sp>
      <p:sp>
        <p:nvSpPr>
          <p:cNvPr id="4" name="">
            <a:extLst xmlns:a="http://schemas.openxmlformats.org/drawingml/2006/main">
              <a:ext uri="{FF2B5EF4-FFF2-40B4-BE49-F238E27FC236}">
                <a16:creationId xmlns:a16="http://schemas.microsoft.com/office/drawing/2014/main" id="{D25B546B-2B54-4D77-A70A-EDA40BCCC4E6}"/>
              </a:ext>
            </a:extLst>
          </p:cNvPr>
          <p:cNvSpPr>
            <a:spLocks xmlns:a="http://schemas.openxmlformats.org/drawingml/2006/main" noGrp="1"/>
          </p:cNvSpPr>
          <p:nvPr/>
        </p:nvSpPr>
        <p:spPr>
          <a:xfrm xmlns:a="http://schemas.openxmlformats.org/drawingml/2006/main">
            <a:off x="638175" y="3476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625" b="0">
                <a:solidFill>
                  <a:srgbClr val="C2EF7A"/>
                </a:solidFill>
                <a:latin typeface="Arial"/>
                <a:ea typeface="Arial"/>
                <a:cs typeface="Arial"/>
              </a:defRPr>
            </a:defPPr>
          </a:lstStyle>
          <a:p xmlns:a="http://schemas.openxmlformats.org/drawingml/2006/main">
            <a:pPr>
              <a:defRPr sz="2625" b="0">
                <a:solidFill>
                  <a:srgbClr val="C2EF7A"/>
                </a:solidFill>
                <a:latin typeface="Arial"/>
                <a:ea typeface="Arial"/>
                <a:cs typeface="Arial"/>
              </a:defRPr>
            </a:pPr>
            <a:r>
              <a:rPr sz="2625" b="0">
                <a:solidFill>
                  <a:srgbClr val="C2EF7A"/>
                </a:solidFill>
                <a:latin typeface="Arial"/>
                <a:ea typeface="Arial"/>
                <a:cs typeface="Arial"/>
              </a:rPr>
              <a:t>Local exam signals for human review</a:t>
            </a:r>
          </a:p>
        </p:txBody>
      </p:sp>
      <p:sp>
        <p:nvSpPr>
          <p:cNvPr id="5" name="">
            <a:extLst xmlns:a="http://schemas.openxmlformats.org/drawingml/2006/main">
              <a:ext uri="{FF2B5EF4-FFF2-40B4-BE49-F238E27FC236}">
                <a16:creationId xmlns:a16="http://schemas.microsoft.com/office/drawing/2014/main" id="{A7277C44-FFC6-4CCA-B3EF-8D51FCC75F1A}"/>
              </a:ext>
            </a:extLst>
          </p:cNvPr>
          <p:cNvSpPr>
            <a:spLocks xmlns:a="http://schemas.openxmlformats.org/drawingml/2006/main" noGrp="1"/>
          </p:cNvSpPr>
          <p:nvPr/>
        </p:nvSpPr>
        <p:spPr>
          <a:xfrm xmlns:a="http://schemas.openxmlformats.org/drawingml/2006/main">
            <a:off x="638175" y="42767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F5F5EB"/>
                </a:solidFill>
                <a:latin typeface="Arial"/>
                <a:ea typeface="Arial"/>
                <a:cs typeface="Arial"/>
              </a:defRPr>
            </a:defPPr>
          </a:lstStyle>
          <a:p xmlns:a="http://schemas.openxmlformats.org/drawingml/2006/main">
            <a:pPr>
              <a:defRPr sz="2325" b="0">
                <a:solidFill>
                  <a:srgbClr val="F5F5EB"/>
                </a:solidFill>
                <a:latin typeface="Arial"/>
                <a:ea typeface="Arial"/>
                <a:cs typeface="Arial"/>
              </a:defRPr>
            </a:pPr>
            <a:r>
              <a:rPr sz="2325" b="0">
                <a:solidFill>
                  <a:srgbClr val="F5F5EB"/>
                </a:solidFill>
                <a:latin typeface="Arial"/>
                <a:ea typeface="Arial"/>
                <a:cs typeface="Arial"/>
              </a:rPr>
              <a:t>The problem: reviewers need context for phones,</a:t>
            </a:r>
          </a:p>
          <a:p xmlns:a="http://schemas.openxmlformats.org/drawingml/2006/main">
            <a:pPr>
              <a:defRPr sz="2325" b="0">
                <a:solidFill>
                  <a:srgbClr val="F5F5EB"/>
                </a:solidFill>
                <a:latin typeface="Arial"/>
                <a:ea typeface="Arial"/>
                <a:cs typeface="Arial"/>
              </a:defRPr>
            </a:pPr>
            <a:r>
              <a:rPr sz="2325" b="0">
                <a:solidFill>
                  <a:srgbClr val="F5F5EB"/>
                </a:solidFill>
                <a:latin typeface="Arial"/>
                <a:ea typeface="Arial"/>
                <a:cs typeface="Arial"/>
              </a:rPr>
              <a:t>absence and sustained off-screen attention.</a:t>
            </a:r>
          </a:p>
        </p:txBody>
      </p:sp>
      <p:sp>
        <p:nvSpPr>
          <p:cNvPr id="6" name="">
            <a:extLst xmlns:a="http://schemas.openxmlformats.org/drawingml/2006/main">
              <a:ext uri="{FF2B5EF4-FFF2-40B4-BE49-F238E27FC236}">
                <a16:creationId xmlns:a16="http://schemas.microsoft.com/office/drawing/2014/main" id="{A7695B7E-FEAB-48E9-88C1-52C42DBDA344}"/>
              </a:ext>
            </a:extLst>
          </p:cNvPr>
          <p:cNvSpPr>
            <a:spLocks xmlns:a="http://schemas.openxmlformats.org/drawingml/2006/main" noGrp="1"/>
          </p:cNvSpPr>
          <p:nvPr/>
        </p:nvSpPr>
        <p:spPr>
          <a:xfrm xmlns:a="http://schemas.openxmlformats.org/drawingml/2006/main">
            <a:off x="638175" y="552450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DC9BF"/>
                </a:solidFill>
                <a:latin typeface="Arial"/>
                <a:ea typeface="Arial"/>
                <a:cs typeface="Arial"/>
              </a:defRPr>
            </a:defPPr>
          </a:lstStyle>
          <a:p xmlns:a="http://schemas.openxmlformats.org/drawingml/2006/main">
            <a:pPr>
              <a:defRPr sz="1725" b="0">
                <a:solidFill>
                  <a:srgbClr val="BDC9BF"/>
                </a:solidFill>
                <a:latin typeface="Arial"/>
                <a:ea typeface="Arial"/>
                <a:cs typeface="Arial"/>
              </a:defRPr>
            </a:pPr>
            <a:r>
              <a:rPr sz="1725" b="0">
                <a:solidFill>
                  <a:srgbClr val="BDC9BF"/>
                </a:solidFill>
                <a:latin typeface="Arial"/>
                <a:ea typeface="Arial"/>
                <a:cs typeface="Arial"/>
              </a:rPr>
              <a:t>Our roles: captain owns engineering and pitch.</a:t>
            </a:r>
          </a:p>
          <a:p xmlns:a="http://schemas.openxmlformats.org/drawingml/2006/main">
            <a:pPr>
              <a:defRPr sz="1725" b="0">
                <a:solidFill>
                  <a:srgbClr val="BDC9BF"/>
                </a:solidFill>
                <a:latin typeface="Arial"/>
                <a:ea typeface="Arial"/>
                <a:cs typeface="Arial"/>
              </a:defRPr>
            </a:pPr>
            <a:r>
              <a:rPr sz="1725" b="0">
                <a:solidFill>
                  <a:srgbClr val="BDC9BF"/>
                </a:solidFill>
                <a:latin typeface="Arial"/>
                <a:ea typeface="Arial"/>
                <a:cs typeface="Arial"/>
              </a:rPr>
              <a:t>Member 2 owns QA and demo operation. Codex assists development.</a:t>
            </a:r>
          </a:p>
        </p:txBody>
      </p:sp>
    </p:spTree>
    <p:extLst>
      <p:ext uri="{BB962C8B-B14F-4D97-AF65-F5344CB8AC3E}">
        <p14:creationId xmlns:p14="http://schemas.microsoft.com/office/powerpoint/2010/main" val="1312208445"/>
      </p:ext>
    </p:extLst>
  </p:cSld>
</p:sld>
</file>

<file path=ppt/slides/slide2.xml><?xml version="1.0" encoding="utf-8"?>
<p:sld xmlns:p="http://schemas.openxmlformats.org/presentationml/2006/main">
  <p:cSld>
    <p:bg>
      <p:bgPr>
        <a:solidFill xmlns:a="http://schemas.openxmlformats.org/drawingml/2006/main">
          <a:srgbClr val="101C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32C828-49B7-4EA9-BEAD-A340E1A492DD}"/>
              </a:ext>
            </a:extLst>
          </p:cNvPr>
          <p:cNvSpPr>
            <a:spLocks xmlns:a="http://schemas.openxmlformats.org/drawingml/2006/main" noGrp="1"/>
          </p:cNvSpPr>
          <p:nvPr/>
        </p:nvSpPr>
        <p:spPr>
          <a:xfrm xmlns:a="http://schemas.openxmlformats.org/drawingml/2006/main">
            <a:off x="609600" y="495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F5F5EB"/>
                </a:solidFill>
                <a:latin typeface="Arial"/>
                <a:ea typeface="Arial"/>
                <a:cs typeface="Arial"/>
              </a:defRPr>
            </a:defPPr>
          </a:lstStyle>
          <a:p xmlns:a="http://schemas.openxmlformats.org/drawingml/2006/main">
            <a:pPr>
              <a:defRPr sz="3600" b="1">
                <a:solidFill>
                  <a:srgbClr val="F5F5EB"/>
                </a:solidFill>
                <a:latin typeface="Arial"/>
                <a:ea typeface="Arial"/>
                <a:cs typeface="Arial"/>
              </a:defRPr>
            </a:pPr>
            <a:r>
              <a:rPr sz="3600" b="1">
                <a:solidFill>
                  <a:srgbClr val="F5F5EB"/>
                </a:solidFill>
                <a:latin typeface="Arial"/>
                <a:ea typeface="Arial"/>
                <a:cs typeface="Arial"/>
              </a:rPr>
              <a:t>Case requirements and coverage</a:t>
            </a:r>
          </a:p>
        </p:txBody>
      </p:sp>
      <p:sp>
        <p:nvSpPr>
          <p:cNvPr id="2" name="">
            <a:extLst xmlns:a="http://schemas.openxmlformats.org/drawingml/2006/main">
              <a:ext uri="{FF2B5EF4-FFF2-40B4-BE49-F238E27FC236}">
                <a16:creationId xmlns:a16="http://schemas.microsoft.com/office/drawing/2014/main" id="{D006523B-B0F8-40B3-B5B8-20C526BBC68A}"/>
              </a:ext>
            </a:extLst>
          </p:cNvPr>
          <p:cNvSpPr>
            <a:spLocks xmlns:a="http://schemas.openxmlformats.org/drawingml/2006/main" noGrp="1"/>
          </p:cNvSpPr>
          <p:nvPr/>
        </p:nvSpPr>
        <p:spPr>
          <a:xfrm xmlns:a="http://schemas.openxmlformats.org/drawingml/2006/main">
            <a:off x="11239500" y="62579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BDC9BF"/>
                </a:solidFill>
                <a:latin typeface="Arial"/>
                <a:ea typeface="Arial"/>
                <a:cs typeface="Arial"/>
              </a:defRPr>
            </a:defPPr>
          </a:lstStyle>
          <a:p xmlns:a="http://schemas.openxmlformats.org/drawingml/2006/main">
            <a:pPr>
              <a:defRPr sz="1350" b="0">
                <a:solidFill>
                  <a:srgbClr val="BDC9BF"/>
                </a:solidFill>
                <a:latin typeface="Arial"/>
                <a:ea typeface="Arial"/>
                <a:cs typeface="Arial"/>
              </a:defRPr>
            </a:pPr>
            <a:r>
              <a:rPr sz="1350" b="0">
                <a:solidFill>
                  <a:srgbClr val="BDC9BF"/>
                </a:solidFill>
                <a:latin typeface="Arial"/>
                <a:ea typeface="Arial"/>
                <a:cs typeface="Arial"/>
              </a:rPr>
              <a:t>02</a:t>
            </a:r>
          </a:p>
        </p:txBody>
      </p:sp>
      <p:graphicFrame>
        <p:nvGraphicFramePr>
          <p:cNvPr id="3" name="">
            <a:extLst xmlns:a="http://schemas.openxmlformats.org/drawingml/2006/main">
              <a:ext uri="{FF2B5EF4-FFF2-40B4-BE49-F238E27FC236}">
                <a16:creationId xmlns:a16="http://schemas.microsoft.com/office/drawing/2014/main" id="{31A06558-E593-466F-AD35-C1D777BC002A}"/>
              </a:ext>
            </a:extLst>
          </p:cNvPr>
          <p:cNvGraphicFramePr/>
          <p:nvPr/>
        </p:nvGraphicFramePr>
        <p:xfrm>
          <a:off xmlns:a="http://schemas.openxmlformats.org/drawingml/2006/main" x="609600" y="1619250"/>
          <a:ext xmlns:a="http://schemas.openxmlformats.org/drawingml/2006/main" cx="10972800" cy="3762375"/>
        </p:xfrm>
        <a:graphic xmlns:a="http://schemas.openxmlformats.org/drawingml/2006/main">
          <a:graphicData uri="http://schemas.openxmlformats.org/drawingml/2006/table">
            <a:tbl>
              <a:tblPr/>
              <a:tblGrid>
                <a:gridCol w="3238500"/>
                <a:gridCol w="4171950"/>
                <a:gridCol w="3562350"/>
              </a:tblGrid>
              <a:tr h="581025">
                <a:tc>
                  <a:txBody>
                    <a:bodyPr lIns="152400" tIns="152400" rIns="152400" bIns="152400"/>
                    <a:lstStyle/>
                    <a:p>
                      <a:r>
                        <a:rPr sz="1725" b="1">
                          <a:solidFill>
                            <a:srgbClr val="C2EF7A"/>
                          </a:solidFill>
                          <a:latin typeface="Arial"/>
                          <a:ea typeface="Arial"/>
                          <a:cs typeface="Arial"/>
                        </a:rPr>
                        <a:t>Case requirement</a:t>
                      </a:r>
                    </a:p>
                  </a:txBody>
                  <a:tcPr marL="91440" marR="91440" marT="45720" marB="45720" anchor="ctr">
                    <a:solidFill>
                      <a:srgbClr val="264131"/>
                    </a:solidFill>
                  </a:tcPr>
                </a:tc>
                <a:tc>
                  <a:txBody>
                    <a:bodyPr lIns="152400" tIns="152400" rIns="152400" bIns="152400"/>
                    <a:lstStyle/>
                    <a:p>
                      <a:r>
                        <a:rPr sz="1725" b="1">
                          <a:solidFill>
                            <a:srgbClr val="C2EF7A"/>
                          </a:solidFill>
                          <a:latin typeface="Arial"/>
                          <a:ea typeface="Arial"/>
                          <a:cs typeface="Arial"/>
                        </a:rPr>
                        <a:t>Implemented approach</a:t>
                      </a:r>
                    </a:p>
                  </a:txBody>
                  <a:tcPr marL="91440" marR="91440" marT="45720" marB="45720" anchor="ctr">
                    <a:solidFill>
                      <a:srgbClr val="264131"/>
                    </a:solidFill>
                  </a:tcPr>
                </a:tc>
                <a:tc>
                  <a:txBody>
                    <a:bodyPr lIns="152400" tIns="152400" rIns="152400" bIns="152400"/>
                    <a:lstStyle/>
                    <a:p>
                      <a:r>
                        <a:rPr sz="1725" b="1">
                          <a:solidFill>
                            <a:srgbClr val="C2EF7A"/>
                          </a:solidFill>
                          <a:latin typeface="Arial"/>
                          <a:ea typeface="Arial"/>
                          <a:cs typeface="Arial"/>
                        </a:rPr>
                        <a:t>Remaining gap</a:t>
                      </a:r>
                    </a:p>
                  </a:txBody>
                  <a:tcPr marL="91440" marR="91440" marT="45720" marB="45720" anchor="ctr">
                    <a:solidFill>
                      <a:srgbClr val="264131"/>
                    </a:solidFill>
                  </a:tcPr>
                </a:tc>
              </a:tr>
              <a:tr h="800100">
                <a:tc>
                  <a:txBody>
                    <a:bodyPr lIns="152400" tIns="152400" rIns="152400" bIns="152400"/>
                    <a:lstStyle/>
                    <a:p>
                      <a:r>
                        <a:rPr sz="1875" b="0">
                          <a:solidFill>
                            <a:srgbClr val="F5F5EB"/>
                          </a:solidFill>
                          <a:latin typeface="Arial"/>
                          <a:ea typeface="Arial"/>
                          <a:cs typeface="Arial"/>
                        </a:rPr>
                        <a:t>Phone visible or raised</a:t>
                      </a:r>
                    </a:p>
                  </a:txBody>
                  <a:tcPr marL="91440" marR="91440" marT="45720" marB="45720" anchor="ctr">
                    <a:solidFill>
                      <a:srgbClr val="101C19"/>
                    </a:solidFill>
                  </a:tcPr>
                </a:tc>
                <a:tc>
                  <a:txBody>
                    <a:bodyPr lIns="152400" tIns="152400" rIns="152400" bIns="152400"/>
                    <a:lstStyle/>
                    <a:p>
                      <a:r>
                        <a:rPr sz="1875" b="0">
                          <a:solidFill>
                            <a:srgbClr val="F5F5EB"/>
                          </a:solidFill>
                          <a:latin typeface="Arial"/>
                          <a:ea typeface="Arial"/>
                          <a:cs typeface="Arial"/>
                        </a:rPr>
                        <a:t>YOLOv8n + box-position rule</a:t>
                      </a:r>
                    </a:p>
                  </a:txBody>
                  <a:tcPr marL="91440" marR="91440" marT="45720" marB="45720" anchor="ctr">
                    <a:solidFill>
                      <a:srgbClr val="101C19"/>
                    </a:solidFill>
                  </a:tcPr>
                </a:tc>
                <a:tc>
                  <a:txBody>
                    <a:bodyPr lIns="152400" tIns="152400" rIns="152400" bIns="152400"/>
                    <a:lstStyle/>
                    <a:p>
                      <a:r>
                        <a:rPr sz="1875" b="0">
                          <a:solidFill>
                            <a:srgbClr val="F5F5EB"/>
                          </a:solidFill>
                          <a:latin typeface="Arial"/>
                          <a:ea typeface="Arial"/>
                          <a:cs typeface="Arial"/>
                        </a:rPr>
                        <a:t>Photography unproven</a:t>
                      </a:r>
                    </a:p>
                  </a:txBody>
                  <a:tcPr marL="91440" marR="91440" marT="45720" marB="45720" anchor="ctr">
                    <a:solidFill>
                      <a:srgbClr val="101C19"/>
                    </a:solidFill>
                  </a:tcPr>
                </a:tc>
              </a:tr>
              <a:tr h="800100">
                <a:tc>
                  <a:txBody>
                    <a:bodyPr lIns="152400" tIns="152400" rIns="152400" bIns="152400"/>
                    <a:lstStyle/>
                    <a:p>
                      <a:r>
                        <a:rPr sz="1875" b="0">
                          <a:solidFill>
                            <a:srgbClr val="F5F5EB"/>
                          </a:solidFill>
                          <a:latin typeface="Arial"/>
                          <a:ea typeface="Arial"/>
                          <a:cs typeface="Arial"/>
                        </a:rPr>
                        <a:t>Presence and attention</a:t>
                      </a:r>
                    </a:p>
                  </a:txBody>
                  <a:tcPr marL="91440" marR="91440" marT="45720" marB="45720" anchor="ctr">
                    <a:solidFill>
                      <a:srgbClr val="101C19"/>
                    </a:solidFill>
                  </a:tcPr>
                </a:tc>
                <a:tc>
                  <a:txBody>
                    <a:bodyPr lIns="152400" tIns="152400" rIns="152400" bIns="152400"/>
                    <a:lstStyle/>
                    <a:p>
                      <a:r>
                        <a:rPr sz="1875" b="0">
                          <a:solidFill>
                            <a:srgbClr val="F5F5EB"/>
                          </a:solidFill>
                          <a:latin typeface="Arial"/>
                          <a:ea typeface="Arial"/>
                          <a:cs typeface="Arial"/>
                        </a:rPr>
                        <a:t>Face count + calibrated</a:t>
                      </a:r>
                    </a:p>
                    <a:p>
                      <a:r>
                        <a:rPr sz="1875" b="0">
                          <a:solidFill>
                            <a:srgbClr val="F5F5EB"/>
                          </a:solidFill>
                          <a:latin typeface="Arial"/>
                          <a:ea typeface="Arial"/>
                          <a:cs typeface="Arial"/>
                        </a:rPr>
                        <a:t>head / iris proxy</a:t>
                      </a:r>
                    </a:p>
                  </a:txBody>
                  <a:tcPr marL="91440" marR="91440" marT="45720" marB="45720" anchor="ctr">
                    <a:solidFill>
                      <a:srgbClr val="101C19"/>
                    </a:solidFill>
                  </a:tcPr>
                </a:tc>
                <a:tc>
                  <a:txBody>
                    <a:bodyPr lIns="152400" tIns="152400" rIns="152400" bIns="152400"/>
                    <a:lstStyle/>
                    <a:p>
                      <a:r>
                        <a:rPr sz="1875" b="0">
                          <a:solidFill>
                            <a:srgbClr val="F5F5EB"/>
                          </a:solidFill>
                          <a:latin typeface="Arial"/>
                          <a:ea typeface="Arial"/>
                          <a:cs typeface="Arial"/>
                        </a:rPr>
                        <a:t>Human validation pending</a:t>
                      </a:r>
                    </a:p>
                  </a:txBody>
                  <a:tcPr marL="91440" marR="91440" marT="45720" marB="45720" anchor="ctr">
                    <a:solidFill>
                      <a:srgbClr val="101C19"/>
                    </a:solidFill>
                  </a:tcPr>
                </a:tc>
              </a:tr>
              <a:tr h="800100">
                <a:tc>
                  <a:txBody>
                    <a:bodyPr lIns="152400" tIns="152400" rIns="152400" bIns="152400"/>
                    <a:lstStyle/>
                    <a:p>
                      <a:r>
                        <a:rPr sz="1875" b="0">
                          <a:solidFill>
                            <a:srgbClr val="F5F5EB"/>
                          </a:solidFill>
                          <a:latin typeface="Arial"/>
                          <a:ea typeface="Arial"/>
                          <a:cs typeface="Arial"/>
                        </a:rPr>
                        <a:t>Protected exam</a:t>
                      </a:r>
                    </a:p>
                  </a:txBody>
                  <a:tcPr marL="91440" marR="91440" marT="45720" marB="45720" anchor="ctr">
                    <a:solidFill>
                      <a:srgbClr val="101C19"/>
                    </a:solidFill>
                  </a:tcPr>
                </a:tc>
                <a:tc>
                  <a:txBody>
                    <a:bodyPr lIns="152400" tIns="152400" rIns="152400" bIns="152400"/>
                    <a:lstStyle/>
                    <a:p>
                      <a:r>
                        <a:rPr sz="1875" b="0">
                          <a:solidFill>
                            <a:srgbClr val="F5F5EB"/>
                          </a:solidFill>
                          <a:latin typeface="Arial"/>
                          <a:ea typeface="Arial"/>
                          <a:cs typeface="Arial"/>
                        </a:rPr>
                        <a:t>Electron controls +</a:t>
                      </a:r>
                    </a:p>
                    <a:p>
                      <a:r>
                        <a:rPr sz="1875" b="0">
                          <a:solidFill>
                            <a:srgbClr val="F5F5EB"/>
                          </a:solidFill>
                          <a:latin typeface="Arial"/>
                          <a:ea typeface="Arial"/>
                          <a:cs typeface="Arial"/>
                        </a:rPr>
                        <a:t>optional Windows key hook</a:t>
                      </a:r>
                    </a:p>
                  </a:txBody>
                  <a:tcPr marL="91440" marR="91440" marT="45720" marB="45720" anchor="ctr">
                    <a:solidFill>
                      <a:srgbClr val="101C19"/>
                    </a:solidFill>
                  </a:tcPr>
                </a:tc>
                <a:tc>
                  <a:txBody>
                    <a:bodyPr lIns="152400" tIns="152400" rIns="152400" bIns="152400"/>
                    <a:lstStyle/>
                    <a:p>
                      <a:r>
                        <a:rPr sz="1875" b="0">
                          <a:solidFill>
                            <a:srgbClr val="F5F5EB"/>
                          </a:solidFill>
                          <a:latin typeface="Arial"/>
                          <a:ea typeface="Arial"/>
                          <a:cs typeface="Arial"/>
                        </a:rPr>
                        <a:t>Outside-app lockdown</a:t>
                      </a:r>
                    </a:p>
                  </a:txBody>
                  <a:tcPr marL="91440" marR="91440" marT="45720" marB="45720" anchor="ctr">
                    <a:solidFill>
                      <a:srgbClr val="101C19"/>
                    </a:solidFill>
                  </a:tcPr>
                </a:tc>
              </a:tr>
              <a:tr h="800100">
                <a:tc>
                  <a:txBody>
                    <a:bodyPr lIns="152400" tIns="152400" rIns="152400" bIns="152400"/>
                    <a:lstStyle/>
                    <a:p>
                      <a:r>
                        <a:rPr sz="1875" b="0">
                          <a:solidFill>
                            <a:srgbClr val="F5F5EB"/>
                          </a:solidFill>
                          <a:latin typeface="Arial"/>
                          <a:ea typeface="Arial"/>
                          <a:cs typeface="Arial"/>
                        </a:rPr>
                        <a:t>Functions together locally</a:t>
                      </a:r>
                    </a:p>
                  </a:txBody>
                  <a:tcPr marL="91440" marR="91440" marT="45720" marB="45720" anchor="ctr">
                    <a:solidFill>
                      <a:srgbClr val="101C19"/>
                    </a:solidFill>
                  </a:tcPr>
                </a:tc>
                <a:tc>
                  <a:txBody>
                    <a:bodyPr lIns="152400" tIns="152400" rIns="152400" bIns="152400"/>
                    <a:lstStyle/>
                    <a:p>
                      <a:r>
                        <a:rPr sz="1875" b="0">
                          <a:solidFill>
                            <a:srgbClr val="F5F5EB"/>
                          </a:solidFill>
                          <a:latin typeface="Arial"/>
                          <a:ea typeface="Arial"/>
                          <a:cs typeface="Arial"/>
                        </a:rPr>
                        <a:t>Desktop monitor +</a:t>
                      </a:r>
                    </a:p>
                    <a:p>
                      <a:r>
                        <a:rPr sz="1875" b="0">
                          <a:solidFill>
                            <a:srgbClr val="F5F5EB"/>
                          </a:solidFill>
                          <a:latin typeface="Arial"/>
                          <a:ea typeface="Arial"/>
                          <a:cs typeface="Arial"/>
                        </a:rPr>
                        <a:t>JSON event report</a:t>
                      </a:r>
                    </a:p>
                  </a:txBody>
                  <a:tcPr marL="91440" marR="91440" marT="45720" marB="45720" anchor="ctr">
                    <a:solidFill>
                      <a:srgbClr val="101C19"/>
                    </a:solidFill>
                  </a:tcPr>
                </a:tc>
                <a:tc>
                  <a:txBody>
                    <a:bodyPr lIns="152400" tIns="152400" rIns="152400" bIns="152400"/>
                    <a:lstStyle/>
                    <a:p>
                      <a:r>
                        <a:rPr sz="1875" b="0">
                          <a:solidFill>
                            <a:srgbClr val="F5F5EB"/>
                          </a:solidFill>
                          <a:latin typeface="Arial"/>
                          <a:ea typeface="Arial"/>
                          <a:cs typeface="Arial"/>
                        </a:rPr>
                        <a:t>Live end-to-end rehearsal</a:t>
                      </a:r>
                    </a:p>
                  </a:txBody>
                  <a:tcPr marL="91440" marR="91440" marT="45720" marB="45720" anchor="ctr">
                    <a:solidFill>
                      <a:srgbClr val="101C19"/>
                    </a:solidFill>
                  </a:tcPr>
                </a:tc>
              </a:tr>
            </a:tbl>
          </a:graphicData>
        </a:graphic>
      </p:graphicFrame>
      <p:sp>
        <p:nvSpPr>
          <p:cNvPr id="4" name="">
            <a:extLst xmlns:a="http://schemas.openxmlformats.org/drawingml/2006/main">
              <a:ext uri="{FF2B5EF4-FFF2-40B4-BE49-F238E27FC236}">
                <a16:creationId xmlns:a16="http://schemas.microsoft.com/office/drawing/2014/main" id="{16C45387-2625-4FEA-9111-7350952324EB}"/>
              </a:ext>
            </a:extLst>
          </p:cNvPr>
          <p:cNvSpPr>
            <a:spLocks xmlns:a="http://schemas.openxmlformats.org/drawingml/2006/main" noGrp="1"/>
          </p:cNvSpPr>
          <p:nvPr/>
        </p:nvSpPr>
        <p:spPr>
          <a:xfrm xmlns:a="http://schemas.openxmlformats.org/drawingml/2006/main">
            <a:off x="609600" y="56864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C2EF7A"/>
                </a:solidFill>
                <a:latin typeface="Arial"/>
                <a:ea typeface="Arial"/>
                <a:cs typeface="Arial"/>
              </a:defRPr>
            </a:defPPr>
          </a:lstStyle>
          <a:p xmlns:a="http://schemas.openxmlformats.org/drawingml/2006/main">
            <a:pPr>
              <a:defRPr sz="2025" b="0">
                <a:solidFill>
                  <a:srgbClr val="C2EF7A"/>
                </a:solidFill>
                <a:latin typeface="Arial"/>
                <a:ea typeface="Arial"/>
                <a:cs typeface="Arial"/>
              </a:defRPr>
            </a:pPr>
            <a:r>
              <a:rPr sz="2025" b="0">
                <a:solidFill>
                  <a:srgbClr val="C2EF7A"/>
                </a:solidFill>
                <a:latin typeface="Arial"/>
                <a:ea typeface="Arial"/>
                <a:cs typeface="Arial"/>
              </a:rPr>
              <a:t>Sustained signals trigger review. Alerts do not determine misconduct.</a:t>
            </a:r>
          </a:p>
        </p:txBody>
      </p:sp>
    </p:spTree>
    <p:extLst>
      <p:ext uri="{BB962C8B-B14F-4D97-AF65-F5344CB8AC3E}">
        <p14:creationId xmlns:p14="http://schemas.microsoft.com/office/powerpoint/2010/main" val="1750218400"/>
      </p:ext>
    </p:extLst>
  </p:cSld>
</p:sld>
</file>

<file path=ppt/slides/slide3.xml><?xml version="1.0" encoding="utf-8"?>
<p:sld xmlns:p="http://schemas.openxmlformats.org/presentationml/2006/main">
  <p:cSld>
    <p:bg>
      <p:bgPr>
        <a:solidFill xmlns:a="http://schemas.openxmlformats.org/drawingml/2006/main">
          <a:srgbClr val="101C1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AA9FA69-CE50-4BC6-9808-C24426D8B8A0}"/>
              </a:ext>
            </a:extLst>
          </p:cNvPr>
          <p:cNvSpPr>
            <a:spLocks xmlns:a="http://schemas.openxmlformats.org/drawingml/2006/main" noGrp="1"/>
          </p:cNvSpPr>
          <p:nvPr/>
        </p:nvSpPr>
        <p:spPr>
          <a:xfrm xmlns:a="http://schemas.openxmlformats.org/drawingml/2006/main">
            <a:off x="609600" y="495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F5F5EB"/>
                </a:solidFill>
                <a:latin typeface="Arial"/>
                <a:ea typeface="Arial"/>
                <a:cs typeface="Arial"/>
              </a:defRPr>
            </a:defPPr>
          </a:lstStyle>
          <a:p xmlns:a="http://schemas.openxmlformats.org/drawingml/2006/main">
            <a:pPr>
              <a:defRPr sz="3600" b="1">
                <a:solidFill>
                  <a:srgbClr val="F5F5EB"/>
                </a:solidFill>
                <a:latin typeface="Arial"/>
                <a:ea typeface="Arial"/>
                <a:cs typeface="Arial"/>
              </a:defRPr>
            </a:pPr>
            <a:r>
              <a:rPr sz="3600" b="1">
                <a:solidFill>
                  <a:srgbClr val="F5F5EB"/>
                </a:solidFill>
                <a:latin typeface="Arial"/>
                <a:ea typeface="Arial"/>
                <a:cs typeface="Arial"/>
              </a:rPr>
              <a:t>Processing on the exam laptop</a:t>
            </a:r>
          </a:p>
        </p:txBody>
      </p:sp>
      <p:sp>
        <p:nvSpPr>
          <p:cNvPr id="2" name="">
            <a:extLst xmlns:a="http://schemas.openxmlformats.org/drawingml/2006/main">
              <a:ext uri="{FF2B5EF4-FFF2-40B4-BE49-F238E27FC236}">
                <a16:creationId xmlns:a16="http://schemas.microsoft.com/office/drawing/2014/main" id="{068ABF59-2FD7-41B0-838E-D96363903B4F}"/>
              </a:ext>
            </a:extLst>
          </p:cNvPr>
          <p:cNvSpPr>
            <a:spLocks xmlns:a="http://schemas.openxmlformats.org/drawingml/2006/main" noGrp="1"/>
          </p:cNvSpPr>
          <p:nvPr/>
        </p:nvSpPr>
        <p:spPr>
          <a:xfrm xmlns:a="http://schemas.openxmlformats.org/drawingml/2006/main">
            <a:off x="11239500" y="62579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BDC9BF"/>
                </a:solidFill>
                <a:latin typeface="Arial"/>
                <a:ea typeface="Arial"/>
                <a:cs typeface="Arial"/>
              </a:defRPr>
            </a:defPPr>
          </a:lstStyle>
          <a:p xmlns:a="http://schemas.openxmlformats.org/drawingml/2006/main">
            <a:pPr>
              <a:defRPr sz="1350" b="0">
                <a:solidFill>
                  <a:srgbClr val="BDC9BF"/>
                </a:solidFill>
                <a:latin typeface="Arial"/>
                <a:ea typeface="Arial"/>
                <a:cs typeface="Arial"/>
              </a:defRPr>
            </a:pPr>
            <a:r>
              <a:rPr sz="1350" b="0">
                <a:solidFill>
                  <a:srgbClr val="BDC9B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ED22278-8FBA-475B-9417-E8CE2BCDA7A0}"/>
              </a:ext>
            </a:extLst>
          </p:cNvPr>
          <p:cNvSpPr>
            <a:spLocks xmlns:a="http://schemas.openxmlformats.org/drawingml/2006/main" noGrp="1"/>
          </p:cNvSpPr>
          <p:nvPr/>
        </p:nvSpPr>
        <p:spPr>
          <a:xfrm xmlns:a="http://schemas.openxmlformats.org/drawingml/2006/main">
            <a:off x="609600" y="1857375"/>
            <a:ext cx="2324100" cy="1066800"/>
          </a:xfrm>
          <a:prstGeom xmlns:a="http://schemas.openxmlformats.org/drawingml/2006/main" prst="rect">
            <a:avLst/>
          </a:prstGeom>
          <a:solidFill xmlns:a="http://schemas.openxmlformats.org/drawingml/2006/main">
            <a:srgbClr val="20372B"/>
          </a:solidFill>
          <a:ln xmlns:a="http://schemas.openxmlformats.org/drawingml/2006/main" w="9525">
            <a:solidFill>
              <a:srgbClr val="496455"/>
            </a:solidFill>
          </a:ln>
        </p:spPr>
        <p:txBody>
          <a:bodyPr xmlns:a="http://schemas.openxmlformats.org/drawingml/2006/main" lIns="171450" tIns="171450" rIns="171450" bIns="171450" anchor="ctr"/>
          <a:lstStyle xmlns:a="http://schemas.openxmlformats.org/drawingml/2006/main">
            <a:defPPr algn="ctr">
              <a:defRPr sz="1950">
                <a:solidFill>
                  <a:srgbClr val="F5F5EB"/>
                </a:solidFill>
                <a:latin typeface="Arial"/>
                <a:ea typeface="Arial"/>
                <a:cs typeface="Arial"/>
              </a:defRPr>
            </a:defPPr>
          </a:lstStyle>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Webcam</a:t>
            </a:r>
          </a:p>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frames in RAM</a:t>
            </a:r>
          </a:p>
        </p:txBody>
      </p:sp>
      <p:sp>
        <p:nvSpPr>
          <p:cNvPr id="4" name="">
            <a:extLst xmlns:a="http://schemas.openxmlformats.org/drawingml/2006/main">
              <a:ext uri="{FF2B5EF4-FFF2-40B4-BE49-F238E27FC236}">
                <a16:creationId xmlns:a16="http://schemas.microsoft.com/office/drawing/2014/main" id="{FCA0AE86-2AB7-419C-820B-B1B3DFAAFD20}"/>
              </a:ext>
            </a:extLst>
          </p:cNvPr>
          <p:cNvSpPr>
            <a:spLocks xmlns:a="http://schemas.openxmlformats.org/drawingml/2006/main" noGrp="1"/>
          </p:cNvSpPr>
          <p:nvPr/>
        </p:nvSpPr>
        <p:spPr>
          <a:xfrm xmlns:a="http://schemas.openxmlformats.org/drawingml/2006/main">
            <a:off x="3038475" y="2286000"/>
            <a:ext cx="342900" cy="209550"/>
          </a:xfrm>
          <a:prstGeom xmlns:a="http://schemas.openxmlformats.org/drawingml/2006/main" prst="rightArrow">
            <a:avLst/>
          </a:prstGeom>
          <a:solidFill xmlns:a="http://schemas.openxmlformats.org/drawingml/2006/main">
            <a:srgbClr val="C2EF7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50A1D7-DE22-427F-B5B3-0BEA0C5FBEC7}"/>
              </a:ext>
            </a:extLst>
          </p:cNvPr>
          <p:cNvSpPr>
            <a:spLocks xmlns:a="http://schemas.openxmlformats.org/drawingml/2006/main" noGrp="1"/>
          </p:cNvSpPr>
          <p:nvPr/>
        </p:nvSpPr>
        <p:spPr>
          <a:xfrm xmlns:a="http://schemas.openxmlformats.org/drawingml/2006/main">
            <a:off x="3495675" y="1857375"/>
            <a:ext cx="2705100" cy="1066800"/>
          </a:xfrm>
          <a:prstGeom xmlns:a="http://schemas.openxmlformats.org/drawingml/2006/main" prst="rect">
            <a:avLst/>
          </a:prstGeom>
          <a:solidFill xmlns:a="http://schemas.openxmlformats.org/drawingml/2006/main">
            <a:srgbClr val="20372B"/>
          </a:solidFill>
          <a:ln xmlns:a="http://schemas.openxmlformats.org/drawingml/2006/main" w="9525">
            <a:solidFill>
              <a:srgbClr val="496455"/>
            </a:solidFill>
          </a:ln>
        </p:spPr>
        <p:txBody>
          <a:bodyPr xmlns:a="http://schemas.openxmlformats.org/drawingml/2006/main" lIns="171450" tIns="171450" rIns="171450" bIns="171450" anchor="ctr"/>
          <a:lstStyle xmlns:a="http://schemas.openxmlformats.org/drawingml/2006/main">
            <a:defPPr algn="ctr">
              <a:defRPr sz="1950">
                <a:solidFill>
                  <a:srgbClr val="F5F5EB"/>
                </a:solidFill>
                <a:latin typeface="Arial"/>
                <a:ea typeface="Arial"/>
                <a:cs typeface="Arial"/>
              </a:defRPr>
            </a:defPPr>
          </a:lstStyle>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Python</a:t>
            </a:r>
          </a:p>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YOLO + MediaPipe</a:t>
            </a:r>
          </a:p>
        </p:txBody>
      </p:sp>
      <p:sp>
        <p:nvSpPr>
          <p:cNvPr id="6" name="">
            <a:extLst xmlns:a="http://schemas.openxmlformats.org/drawingml/2006/main">
              <a:ext uri="{FF2B5EF4-FFF2-40B4-BE49-F238E27FC236}">
                <a16:creationId xmlns:a16="http://schemas.microsoft.com/office/drawing/2014/main" id="{7DF28BCE-DEF6-4FB6-A359-F6BB4590CB35}"/>
              </a:ext>
            </a:extLst>
          </p:cNvPr>
          <p:cNvSpPr>
            <a:spLocks xmlns:a="http://schemas.openxmlformats.org/drawingml/2006/main" noGrp="1"/>
          </p:cNvSpPr>
          <p:nvPr/>
        </p:nvSpPr>
        <p:spPr>
          <a:xfrm xmlns:a="http://schemas.openxmlformats.org/drawingml/2006/main">
            <a:off x="6315075" y="2286000"/>
            <a:ext cx="342900" cy="209550"/>
          </a:xfrm>
          <a:prstGeom xmlns:a="http://schemas.openxmlformats.org/drawingml/2006/main" prst="rightArrow">
            <a:avLst/>
          </a:prstGeom>
          <a:solidFill xmlns:a="http://schemas.openxmlformats.org/drawingml/2006/main">
            <a:srgbClr val="C2EF7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4225C7C-A078-49E4-AA64-2A8EBCC20477}"/>
              </a:ext>
            </a:extLst>
          </p:cNvPr>
          <p:cNvSpPr>
            <a:spLocks xmlns:a="http://schemas.openxmlformats.org/drawingml/2006/main" noGrp="1"/>
          </p:cNvSpPr>
          <p:nvPr/>
        </p:nvSpPr>
        <p:spPr>
          <a:xfrm xmlns:a="http://schemas.openxmlformats.org/drawingml/2006/main">
            <a:off x="6772275" y="1857375"/>
            <a:ext cx="2133600" cy="1066800"/>
          </a:xfrm>
          <a:prstGeom xmlns:a="http://schemas.openxmlformats.org/drawingml/2006/main" prst="rect">
            <a:avLst/>
          </a:prstGeom>
          <a:solidFill xmlns:a="http://schemas.openxmlformats.org/drawingml/2006/main">
            <a:srgbClr val="20372B"/>
          </a:solidFill>
          <a:ln xmlns:a="http://schemas.openxmlformats.org/drawingml/2006/main" w="9525">
            <a:solidFill>
              <a:srgbClr val="496455"/>
            </a:solidFill>
          </a:ln>
        </p:spPr>
        <p:txBody>
          <a:bodyPr xmlns:a="http://schemas.openxmlformats.org/drawingml/2006/main" lIns="171450" tIns="171450" rIns="171450" bIns="171450" anchor="ctr"/>
          <a:lstStyle xmlns:a="http://schemas.openxmlformats.org/drawingml/2006/main">
            <a:defPPr algn="ctr">
              <a:defRPr sz="1950">
                <a:solidFill>
                  <a:srgbClr val="F5F5EB"/>
                </a:solidFill>
                <a:latin typeface="Arial"/>
                <a:ea typeface="Arial"/>
                <a:cs typeface="Arial"/>
              </a:defRPr>
            </a:defPPr>
          </a:lstStyle>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Temporal</a:t>
            </a:r>
          </a:p>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signal rules</a:t>
            </a:r>
          </a:p>
        </p:txBody>
      </p:sp>
      <p:sp>
        <p:nvSpPr>
          <p:cNvPr id="8" name="">
            <a:extLst xmlns:a="http://schemas.openxmlformats.org/drawingml/2006/main">
              <a:ext uri="{FF2B5EF4-FFF2-40B4-BE49-F238E27FC236}">
                <a16:creationId xmlns:a16="http://schemas.microsoft.com/office/drawing/2014/main" id="{4C628969-37F0-40DA-88F8-BE5B4412074C}"/>
              </a:ext>
            </a:extLst>
          </p:cNvPr>
          <p:cNvSpPr>
            <a:spLocks xmlns:a="http://schemas.openxmlformats.org/drawingml/2006/main" noGrp="1"/>
          </p:cNvSpPr>
          <p:nvPr/>
        </p:nvSpPr>
        <p:spPr>
          <a:xfrm xmlns:a="http://schemas.openxmlformats.org/drawingml/2006/main">
            <a:off x="9020175" y="2286000"/>
            <a:ext cx="342900" cy="209550"/>
          </a:xfrm>
          <a:prstGeom xmlns:a="http://schemas.openxmlformats.org/drawingml/2006/main" prst="rightArrow">
            <a:avLst/>
          </a:prstGeom>
          <a:solidFill xmlns:a="http://schemas.openxmlformats.org/drawingml/2006/main">
            <a:srgbClr val="C2EF7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57BA760-6B9C-403F-8FF1-5538EA19CCEE}"/>
              </a:ext>
            </a:extLst>
          </p:cNvPr>
          <p:cNvSpPr>
            <a:spLocks xmlns:a="http://schemas.openxmlformats.org/drawingml/2006/main" noGrp="1"/>
          </p:cNvSpPr>
          <p:nvPr/>
        </p:nvSpPr>
        <p:spPr>
          <a:xfrm xmlns:a="http://schemas.openxmlformats.org/drawingml/2006/main">
            <a:off x="9477375" y="1857375"/>
            <a:ext cx="2095500" cy="1066800"/>
          </a:xfrm>
          <a:prstGeom xmlns:a="http://schemas.openxmlformats.org/drawingml/2006/main" prst="rect">
            <a:avLst/>
          </a:prstGeom>
          <a:solidFill xmlns:a="http://schemas.openxmlformats.org/drawingml/2006/main">
            <a:srgbClr val="20372B"/>
          </a:solidFill>
          <a:ln xmlns:a="http://schemas.openxmlformats.org/drawingml/2006/main" w="9525">
            <a:solidFill>
              <a:srgbClr val="496455"/>
            </a:solidFill>
          </a:ln>
        </p:spPr>
        <p:txBody>
          <a:bodyPr xmlns:a="http://schemas.openxmlformats.org/drawingml/2006/main" lIns="171450" tIns="171450" rIns="171450" bIns="171450" anchor="ctr"/>
          <a:lstStyle xmlns:a="http://schemas.openxmlformats.org/drawingml/2006/main">
            <a:defPPr algn="ctr">
              <a:defRPr sz="1950">
                <a:solidFill>
                  <a:srgbClr val="F5F5EB"/>
                </a:solidFill>
                <a:latin typeface="Arial"/>
                <a:ea typeface="Arial"/>
                <a:cs typeface="Arial"/>
              </a:defRPr>
            </a:defPPr>
          </a:lstStyle>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Local JSON</a:t>
            </a:r>
          </a:p>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human review</a:t>
            </a:r>
          </a:p>
        </p:txBody>
      </p:sp>
      <p:sp>
        <p:nvSpPr>
          <p:cNvPr id="10" name="">
            <a:extLst xmlns:a="http://schemas.openxmlformats.org/drawingml/2006/main">
              <a:ext uri="{FF2B5EF4-FFF2-40B4-BE49-F238E27FC236}">
                <a16:creationId xmlns:a16="http://schemas.microsoft.com/office/drawing/2014/main" id="{5F88DCE8-C530-49D8-B413-27502E28E183}"/>
              </a:ext>
            </a:extLst>
          </p:cNvPr>
          <p:cNvSpPr>
            <a:spLocks xmlns:a="http://schemas.openxmlformats.org/drawingml/2006/main" noGrp="1"/>
          </p:cNvSpPr>
          <p:nvPr/>
        </p:nvSpPr>
        <p:spPr>
          <a:xfrm xmlns:a="http://schemas.openxmlformats.org/drawingml/2006/main">
            <a:off x="609600" y="3581400"/>
            <a:ext cx="5581650" cy="990600"/>
          </a:xfrm>
          <a:prstGeom xmlns:a="http://schemas.openxmlformats.org/drawingml/2006/main" prst="rect">
            <a:avLst/>
          </a:prstGeom>
          <a:solidFill xmlns:a="http://schemas.openxmlformats.org/drawingml/2006/main">
            <a:srgbClr val="20372B"/>
          </a:solidFill>
          <a:ln xmlns:a="http://schemas.openxmlformats.org/drawingml/2006/main" w="9525">
            <a:solidFill>
              <a:srgbClr val="496455"/>
            </a:solidFill>
          </a:ln>
        </p:spPr>
        <p:txBody>
          <a:bodyPr xmlns:a="http://schemas.openxmlformats.org/drawingml/2006/main" lIns="171450" tIns="171450" rIns="171450" bIns="171450" anchor="ctr"/>
          <a:lstStyle xmlns:a="http://schemas.openxmlformats.org/drawingml/2006/main">
            <a:defPPr algn="ctr">
              <a:defRPr sz="1950">
                <a:solidFill>
                  <a:srgbClr val="F5F5EB"/>
                </a:solidFill>
                <a:latin typeface="Arial"/>
                <a:ea typeface="Arial"/>
                <a:cs typeface="Arial"/>
              </a:defRPr>
            </a:defPPr>
          </a:lstStyle>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Electron exam and dashboard</a:t>
            </a:r>
          </a:p>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Local API: 127.0.0.1</a:t>
            </a:r>
          </a:p>
        </p:txBody>
      </p:sp>
      <p:sp>
        <p:nvSpPr>
          <p:cNvPr id="11" name="">
            <a:extLst xmlns:a="http://schemas.openxmlformats.org/drawingml/2006/main">
              <a:ext uri="{FF2B5EF4-FFF2-40B4-BE49-F238E27FC236}">
                <a16:creationId xmlns:a16="http://schemas.microsoft.com/office/drawing/2014/main" id="{4B1D50FE-AFBE-4B34-BB39-CC70562BD4C8}"/>
              </a:ext>
            </a:extLst>
          </p:cNvPr>
          <p:cNvSpPr>
            <a:spLocks xmlns:a="http://schemas.openxmlformats.org/drawingml/2006/main" noGrp="1"/>
          </p:cNvSpPr>
          <p:nvPr/>
        </p:nvSpPr>
        <p:spPr>
          <a:xfrm xmlns:a="http://schemas.openxmlformats.org/drawingml/2006/main">
            <a:off x="6772275" y="3581400"/>
            <a:ext cx="4800600" cy="990600"/>
          </a:xfrm>
          <a:prstGeom xmlns:a="http://schemas.openxmlformats.org/drawingml/2006/main" prst="rect">
            <a:avLst/>
          </a:prstGeom>
          <a:solidFill xmlns:a="http://schemas.openxmlformats.org/drawingml/2006/main">
            <a:srgbClr val="20372B"/>
          </a:solidFill>
          <a:ln xmlns:a="http://schemas.openxmlformats.org/drawingml/2006/main" w="9525">
            <a:solidFill>
              <a:srgbClr val="496455"/>
            </a:solidFill>
          </a:ln>
        </p:spPr>
        <p:txBody>
          <a:bodyPr xmlns:a="http://schemas.openxmlformats.org/drawingml/2006/main" lIns="171450" tIns="171450" rIns="171450" bIns="171450" anchor="ctr"/>
          <a:lstStyle xmlns:a="http://schemas.openxmlformats.org/drawingml/2006/main">
            <a:defPPr algn="ctr">
              <a:defRPr sz="1950">
                <a:solidFill>
                  <a:srgbClr val="F5F5EB"/>
                </a:solidFill>
                <a:latin typeface="Arial"/>
                <a:ea typeface="Arial"/>
                <a:cs typeface="Arial"/>
              </a:defRPr>
            </a:defPPr>
          </a:lstStyle>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Session protection and recovery</a:t>
            </a:r>
          </a:p>
          <a:p xmlns:a="http://schemas.openxmlformats.org/drawingml/2006/main">
            <a:pPr algn="ctr">
              <a:defRPr sz="1950">
                <a:solidFill>
                  <a:srgbClr val="F5F5EB"/>
                </a:solidFill>
                <a:latin typeface="Arial"/>
                <a:ea typeface="Arial"/>
                <a:cs typeface="Arial"/>
              </a:defRPr>
            </a:pPr>
            <a:r>
              <a:rPr sz="1950">
                <a:solidFill>
                  <a:srgbClr val="F5F5EB"/>
                </a:solidFill>
                <a:latin typeface="Arial"/>
                <a:ea typeface="Arial"/>
                <a:cs typeface="Arial"/>
              </a:rPr>
              <a:t>End session / Ctrl+Shift+Q</a:t>
            </a:r>
          </a:p>
        </p:txBody>
      </p:sp>
      <p:sp>
        <p:nvSpPr>
          <p:cNvPr id="12" name="">
            <a:extLst xmlns:a="http://schemas.openxmlformats.org/drawingml/2006/main">
              <a:ext uri="{FF2B5EF4-FFF2-40B4-BE49-F238E27FC236}">
                <a16:creationId xmlns:a16="http://schemas.microsoft.com/office/drawing/2014/main" id="{1E7BC3D9-A793-4131-BDC7-B8E919C1AF2A}"/>
              </a:ext>
            </a:extLst>
          </p:cNvPr>
          <p:cNvSpPr>
            <a:spLocks xmlns:a="http://schemas.openxmlformats.org/drawingml/2006/main" noGrp="1"/>
          </p:cNvSpPr>
          <p:nvPr/>
        </p:nvSpPr>
        <p:spPr>
          <a:xfrm xmlns:a="http://schemas.openxmlformats.org/drawingml/2006/main">
            <a:off x="6315075" y="3962400"/>
            <a:ext cx="342900" cy="209550"/>
          </a:xfrm>
          <a:prstGeom xmlns:a="http://schemas.openxmlformats.org/drawingml/2006/main" prst="rightArrow">
            <a:avLst/>
          </a:prstGeom>
          <a:solidFill xmlns:a="http://schemas.openxmlformats.org/drawingml/2006/main">
            <a:srgbClr val="C2EF7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7636C38-936B-410C-AD06-8DC87AD35F0E}"/>
              </a:ext>
            </a:extLst>
          </p:cNvPr>
          <p:cNvSpPr>
            <a:spLocks xmlns:a="http://schemas.openxmlformats.org/drawingml/2006/main" noGrp="1"/>
          </p:cNvSpPr>
          <p:nvPr/>
        </p:nvSpPr>
        <p:spPr>
          <a:xfrm xmlns:a="http://schemas.openxmlformats.org/drawingml/2006/main">
            <a:off x="609600" y="49815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F5F5EB"/>
                </a:solidFill>
                <a:latin typeface="Arial"/>
                <a:ea typeface="Arial"/>
                <a:cs typeface="Arial"/>
              </a:defRPr>
            </a:defPPr>
          </a:lstStyle>
          <a:p xmlns:a="http://schemas.openxmlformats.org/drawingml/2006/main">
            <a:pPr>
              <a:defRPr sz="2175" b="0">
                <a:solidFill>
                  <a:srgbClr val="F5F5EB"/>
                </a:solidFill>
                <a:latin typeface="Arial"/>
                <a:ea typeface="Arial"/>
                <a:cs typeface="Arial"/>
              </a:defRPr>
            </a:pPr>
            <a:r>
              <a:rPr sz="2175" b="0">
                <a:solidFill>
                  <a:srgbClr val="F5F5EB"/>
                </a:solidFill>
                <a:latin typeface="Arial"/>
                <a:ea typeface="Arial"/>
                <a:cs typeface="Arial"/>
              </a:rPr>
              <a:t>Preview frames stay in memory. Reports store event metadata</a:t>
            </a:r>
          </a:p>
          <a:p xmlns:a="http://schemas.openxmlformats.org/drawingml/2006/main">
            <a:pPr>
              <a:defRPr sz="2175" b="0">
                <a:solidFill>
                  <a:srgbClr val="F5F5EB"/>
                </a:solidFill>
                <a:latin typeface="Arial"/>
                <a:ea typeface="Arial"/>
                <a:cs typeface="Arial"/>
              </a:defRPr>
            </a:pPr>
            <a:r>
              <a:rPr sz="2175" b="0">
                <a:solidFill>
                  <a:srgbClr val="F5F5EB"/>
                </a:solidFill>
                <a:latin typeface="Arial"/>
                <a:ea typeface="Arial"/>
                <a:cs typeface="Arial"/>
              </a:rPr>
              <a:t>and, during guided tests, numeric observations and notes.</a:t>
            </a:r>
          </a:p>
        </p:txBody>
      </p:sp>
      <p:sp>
        <p:nvSpPr>
          <p:cNvPr id="14" name="">
            <a:extLst xmlns:a="http://schemas.openxmlformats.org/drawingml/2006/main">
              <a:ext uri="{FF2B5EF4-FFF2-40B4-BE49-F238E27FC236}">
                <a16:creationId xmlns:a16="http://schemas.microsoft.com/office/drawing/2014/main" id="{E7725828-1295-4ED3-A7E5-E262610DA956}"/>
              </a:ext>
            </a:extLst>
          </p:cNvPr>
          <p:cNvSpPr>
            <a:spLocks xmlns:a="http://schemas.openxmlformats.org/drawingml/2006/main" noGrp="1"/>
          </p:cNvSpPr>
          <p:nvPr/>
        </p:nvSpPr>
        <p:spPr>
          <a:xfrm xmlns:a="http://schemas.openxmlformats.org/drawingml/2006/main">
            <a:off x="609600" y="59626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C2EF7A"/>
                </a:solidFill>
                <a:latin typeface="Arial"/>
                <a:ea typeface="Arial"/>
                <a:cs typeface="Arial"/>
              </a:defRPr>
            </a:defPPr>
          </a:lstStyle>
          <a:p xmlns:a="http://schemas.openxmlformats.org/drawingml/2006/main">
            <a:pPr>
              <a:defRPr sz="1800" b="0">
                <a:solidFill>
                  <a:srgbClr val="C2EF7A"/>
                </a:solidFill>
                <a:latin typeface="Arial"/>
                <a:ea typeface="Arial"/>
                <a:cs typeface="Arial"/>
              </a:defRPr>
            </a:pPr>
            <a:r>
              <a:rPr sz="1800" b="0">
                <a:solidFill>
                  <a:srgbClr val="C2EF7A"/>
                </a:solidFill>
                <a:latin typeface="Arial"/>
                <a:ea typeface="Arial"/>
                <a:cs typeface="Arial"/>
              </a:rPr>
              <a:t>Our contribution: calibrated rules, local integration and recoverable sessions.</a:t>
            </a:r>
          </a:p>
        </p:txBody>
      </p:sp>
    </p:spTree>
    <p:extLst>
      <p:ext uri="{BB962C8B-B14F-4D97-AF65-F5344CB8AC3E}">
        <p14:creationId xmlns:p14="http://schemas.microsoft.com/office/powerpoint/2010/main" val="1540620026"/>
      </p:ext>
    </p:extLst>
  </p:cSld>
</p:sld>
</file>

<file path=ppt/slides/slide4.xml><?xml version="1.0" encoding="utf-8"?>
<p:sld xmlns:p="http://schemas.openxmlformats.org/presentationml/2006/main">
  <p:cSld>
    <p:bg>
      <p:bgPr>
        <a:solidFill xmlns:a="http://schemas.openxmlformats.org/drawingml/2006/main">
          <a:srgbClr val="101C1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833225-01DE-4A04-B153-910B21C1438B}"/>
              </a:ext>
            </a:extLst>
          </p:cNvPr>
          <p:cNvSpPr>
            <a:spLocks xmlns:a="http://schemas.openxmlformats.org/drawingml/2006/main" noGrp="1"/>
          </p:cNvSpPr>
          <p:nvPr/>
        </p:nvSpPr>
        <p:spPr>
          <a:xfrm xmlns:a="http://schemas.openxmlformats.org/drawingml/2006/main">
            <a:off x="609600" y="495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F5F5EB"/>
                </a:solidFill>
                <a:latin typeface="Arial"/>
                <a:ea typeface="Arial"/>
                <a:cs typeface="Arial"/>
              </a:defRPr>
            </a:defPPr>
          </a:lstStyle>
          <a:p xmlns:a="http://schemas.openxmlformats.org/drawingml/2006/main">
            <a:pPr>
              <a:defRPr sz="3600" b="1">
                <a:solidFill>
                  <a:srgbClr val="F5F5EB"/>
                </a:solidFill>
                <a:latin typeface="Arial"/>
                <a:ea typeface="Arial"/>
                <a:cs typeface="Arial"/>
              </a:defRPr>
            </a:pPr>
            <a:r>
              <a:rPr sz="3600" b="1">
                <a:solidFill>
                  <a:srgbClr val="F5F5EB"/>
                </a:solidFill>
                <a:latin typeface="Arial"/>
                <a:ea typeface="Arial"/>
                <a:cs typeface="Arial"/>
              </a:rPr>
              <a:t>Prototype demonstration and evidence</a:t>
            </a:r>
          </a:p>
        </p:txBody>
      </p:sp>
      <p:sp>
        <p:nvSpPr>
          <p:cNvPr id="2" name="">
            <a:extLst xmlns:a="http://schemas.openxmlformats.org/drawingml/2006/main">
              <a:ext uri="{FF2B5EF4-FFF2-40B4-BE49-F238E27FC236}">
                <a16:creationId xmlns:a16="http://schemas.microsoft.com/office/drawing/2014/main" id="{DF1F9A8E-1143-485F-A24D-88EFC4B26DD4}"/>
              </a:ext>
            </a:extLst>
          </p:cNvPr>
          <p:cNvSpPr>
            <a:spLocks xmlns:a="http://schemas.openxmlformats.org/drawingml/2006/main" noGrp="1"/>
          </p:cNvSpPr>
          <p:nvPr/>
        </p:nvSpPr>
        <p:spPr>
          <a:xfrm xmlns:a="http://schemas.openxmlformats.org/drawingml/2006/main">
            <a:off x="11239500" y="62579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BDC9BF"/>
                </a:solidFill>
                <a:latin typeface="Arial"/>
                <a:ea typeface="Arial"/>
                <a:cs typeface="Arial"/>
              </a:defRPr>
            </a:defPPr>
          </a:lstStyle>
          <a:p xmlns:a="http://schemas.openxmlformats.org/drawingml/2006/main">
            <a:pPr>
              <a:defRPr sz="1350" b="0">
                <a:solidFill>
                  <a:srgbClr val="BDC9BF"/>
                </a:solidFill>
                <a:latin typeface="Arial"/>
                <a:ea typeface="Arial"/>
                <a:cs typeface="Arial"/>
              </a:defRPr>
            </a:pPr>
            <a:r>
              <a:rPr sz="1350" b="0">
                <a:solidFill>
                  <a:srgbClr val="BDC9BF"/>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45922914-C6BC-4088-AEC4-4E658A8A8114}"/>
              </a:ext>
            </a:extLst>
          </p:cNvPr>
          <p:cNvPicPr>
            <a:picLocks xmlns:a="http://schemas.openxmlformats.org/drawingml/2006/main" noChangeAspect="1"/>
          </p:cNvPicPr>
          <p:nvPr/>
        </p:nvPicPr>
        <p:blipFill>
          <a:blip xmlns:r="http://schemas.openxmlformats.org/officeDocument/2006/relationships" xmlns:a="http://schemas.openxmlformats.org/drawingml/2006/main" r:embed="Rc4623590fde14f7b"/>
          <a:stretch xmlns:a="http://schemas.openxmlformats.org/drawingml/2006/main"/>
        </p:blipFill>
        <p:spPr>
          <a:xfrm xmlns:a="http://schemas.openxmlformats.org/drawingml/2006/main">
            <a:off x="609600" y="1659731"/>
            <a:ext cx="7086600" cy="398621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3F017F3-059C-4704-8B6E-3FA67D9F75A5}"/>
              </a:ext>
            </a:extLst>
          </p:cNvPr>
          <p:cNvSpPr>
            <a:spLocks xmlns:a="http://schemas.openxmlformats.org/drawingml/2006/main" noGrp="1"/>
          </p:cNvSpPr>
          <p:nvPr/>
        </p:nvSpPr>
        <p:spPr>
          <a:xfrm xmlns:a="http://schemas.openxmlformats.org/drawingml/2006/main">
            <a:off x="609600" y="5819775"/>
            <a:ext cx="708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1">
                <a:solidFill>
                  <a:srgbClr val="E5BC83"/>
                </a:solidFill>
                <a:latin typeface="Arial"/>
                <a:ea typeface="Arial"/>
                <a:cs typeface="Arial"/>
              </a:defRPr>
            </a:defPPr>
          </a:lstStyle>
          <a:p xmlns:a="http://schemas.openxmlformats.org/drawingml/2006/main">
            <a:pPr>
              <a:defRPr sz="1650" b="1">
                <a:solidFill>
                  <a:srgbClr val="E5BC83"/>
                </a:solidFill>
                <a:latin typeface="Arial"/>
                <a:ea typeface="Arial"/>
                <a:cs typeface="Arial"/>
              </a:defRPr>
            </a:pPr>
            <a:r>
              <a:rPr sz="1650" b="1">
                <a:solidFill>
                  <a:srgbClr val="E5BC83"/>
                </a:solidFill>
                <a:latin typeface="Arial"/>
                <a:ea typeface="Arial"/>
                <a:cs typeface="Arial"/>
              </a:rPr>
              <a:t>SIMULATION / 8 OCT 2026</a:t>
            </a:r>
          </a:p>
        </p:txBody>
      </p:sp>
      <p:sp>
        <p:nvSpPr>
          <p:cNvPr id="5" name="">
            <a:extLst xmlns:a="http://schemas.openxmlformats.org/drawingml/2006/main">
              <a:ext uri="{FF2B5EF4-FFF2-40B4-BE49-F238E27FC236}">
                <a16:creationId xmlns:a16="http://schemas.microsoft.com/office/drawing/2014/main" id="{7AB86E0E-5ABE-43DB-818D-E8E9E6B64E16}"/>
              </a:ext>
            </a:extLst>
          </p:cNvPr>
          <p:cNvSpPr>
            <a:spLocks xmlns:a="http://schemas.openxmlformats.org/drawingml/2006/main" noGrp="1"/>
          </p:cNvSpPr>
          <p:nvPr/>
        </p:nvSpPr>
        <p:spPr>
          <a:xfrm xmlns:a="http://schemas.openxmlformats.org/drawingml/2006/main">
            <a:off x="8134350" y="1704975"/>
            <a:ext cx="342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C2EF7A"/>
                </a:solidFill>
                <a:latin typeface="Arial"/>
                <a:ea typeface="Arial"/>
                <a:cs typeface="Arial"/>
              </a:defRPr>
            </a:defPPr>
          </a:lstStyle>
          <a:p xmlns:a="http://schemas.openxmlformats.org/drawingml/2006/main">
            <a:pPr>
              <a:defRPr sz="2400" b="1">
                <a:solidFill>
                  <a:srgbClr val="C2EF7A"/>
                </a:solidFill>
                <a:latin typeface="Arial"/>
                <a:ea typeface="Arial"/>
                <a:cs typeface="Arial"/>
              </a:defRPr>
            </a:pPr>
            <a:r>
              <a:rPr sz="2400" b="1">
                <a:solidFill>
                  <a:srgbClr val="C2EF7A"/>
                </a:solidFill>
                <a:latin typeface="Arial"/>
                <a:ea typeface="Arial"/>
                <a:cs typeface="Arial"/>
              </a:rPr>
              <a:t>26 Python checks</a:t>
            </a:r>
          </a:p>
          <a:p xmlns:a="http://schemas.openxmlformats.org/drawingml/2006/main">
            <a:pPr>
              <a:defRPr sz="2400" b="1">
                <a:solidFill>
                  <a:srgbClr val="C2EF7A"/>
                </a:solidFill>
                <a:latin typeface="Arial"/>
                <a:ea typeface="Arial"/>
                <a:cs typeface="Arial"/>
              </a:defRPr>
            </a:pPr>
            <a:r>
              <a:rPr sz="2400" b="1">
                <a:solidFill>
                  <a:srgbClr val="C2EF7A"/>
                </a:solidFill>
                <a:latin typeface="Arial"/>
                <a:ea typeface="Arial"/>
                <a:cs typeface="Arial"/>
              </a:rPr>
              <a:t>2 desktop policy checks</a:t>
            </a:r>
          </a:p>
        </p:txBody>
      </p:sp>
      <p:sp>
        <p:nvSpPr>
          <p:cNvPr id="6" name="">
            <a:extLst xmlns:a="http://schemas.openxmlformats.org/drawingml/2006/main">
              <a:ext uri="{FF2B5EF4-FFF2-40B4-BE49-F238E27FC236}">
                <a16:creationId xmlns:a16="http://schemas.microsoft.com/office/drawing/2014/main" id="{9966AADB-096E-44D9-85B1-1E3FFA012559}"/>
              </a:ext>
            </a:extLst>
          </p:cNvPr>
          <p:cNvSpPr>
            <a:spLocks xmlns:a="http://schemas.openxmlformats.org/drawingml/2006/main" noGrp="1"/>
          </p:cNvSpPr>
          <p:nvPr/>
        </p:nvSpPr>
        <p:spPr>
          <a:xfrm xmlns:a="http://schemas.openxmlformats.org/drawingml/2006/main">
            <a:off x="8134350" y="2781300"/>
            <a:ext cx="342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F5F5EB"/>
                </a:solidFill>
                <a:latin typeface="Arial"/>
                <a:ea typeface="Arial"/>
                <a:cs typeface="Arial"/>
              </a:defRPr>
            </a:defPPr>
          </a:lstStyle>
          <a:p xmlns:a="http://schemas.openxmlformats.org/drawingml/2006/main">
            <a:pPr>
              <a:defRPr sz="1950" b="0">
                <a:solidFill>
                  <a:srgbClr val="F5F5EB"/>
                </a:solidFill>
                <a:latin typeface="Arial"/>
                <a:ea typeface="Arial"/>
                <a:cs typeface="Arial"/>
              </a:defRPr>
            </a:pPr>
            <a:r>
              <a:rPr sz="1950" b="0">
                <a:solidFill>
                  <a:srgbClr val="F5F5EB"/>
                </a:solidFill>
                <a:latin typeface="Arial"/>
                <a:ea typeface="Arial"/>
                <a:cs typeface="Arial"/>
              </a:rPr>
              <a:t>Passed API and Electron tests</a:t>
            </a:r>
          </a:p>
          <a:p xmlns:a="http://schemas.openxmlformats.org/drawingml/2006/main">
            <a:r>
              <a:t/>
            </a:r>
          </a:p>
          <a:p xmlns:a="http://schemas.openxmlformats.org/drawingml/2006/main">
            <a:pPr>
              <a:defRPr sz="1950" b="0">
                <a:solidFill>
                  <a:srgbClr val="F5F5EB"/>
                </a:solidFill>
                <a:latin typeface="Arial"/>
                <a:ea typeface="Arial"/>
                <a:cs typeface="Arial"/>
              </a:defRPr>
            </a:pPr>
            <a:r>
              <a:rPr sz="1950" b="0">
                <a:solidFill>
                  <a:srgbClr val="F5F5EB"/>
                </a:solidFill>
                <a:latin typeface="Arial"/>
                <a:ea typeface="Arial"/>
                <a:cs typeface="Arial"/>
              </a:rPr>
              <a:t>JSON download and restart</a:t>
            </a:r>
          </a:p>
          <a:p xmlns:a="http://schemas.openxmlformats.org/drawingml/2006/main">
            <a:pPr>
              <a:defRPr sz="1950" b="0">
                <a:solidFill>
                  <a:srgbClr val="F5F5EB"/>
                </a:solidFill>
                <a:latin typeface="Arial"/>
                <a:ea typeface="Arial"/>
                <a:cs typeface="Arial"/>
              </a:defRPr>
            </a:pPr>
            <a:r>
              <a:rPr sz="1950" b="0">
                <a:solidFill>
                  <a:srgbClr val="F5F5EB"/>
                </a:solidFill>
                <a:latin typeface="Arial"/>
                <a:ea typeface="Arial"/>
                <a:cs typeface="Arial"/>
              </a:rPr>
              <a:t>Emergency and crash release</a:t>
            </a:r>
          </a:p>
          <a:p xmlns:a="http://schemas.openxmlformats.org/drawingml/2006/main">
            <a:pPr>
              <a:defRPr sz="1950" b="0">
                <a:solidFill>
                  <a:srgbClr val="F5F5EB"/>
                </a:solidFill>
                <a:latin typeface="Arial"/>
                <a:ea typeface="Arial"/>
                <a:cs typeface="Arial"/>
              </a:defRPr>
            </a:pPr>
            <a:r>
              <a:rPr sz="1950" b="0">
                <a:solidFill>
                  <a:srgbClr val="F5F5EB"/>
                </a:solidFill>
                <a:latin typeface="Arial"/>
                <a:ea typeface="Arial"/>
                <a:cs typeface="Arial"/>
              </a:rPr>
              <a:t>Camera faults with fake hardware</a:t>
            </a:r>
          </a:p>
        </p:txBody>
      </p:sp>
      <p:sp>
        <p:nvSpPr>
          <p:cNvPr id="7" name="">
            <a:extLst xmlns:a="http://schemas.openxmlformats.org/drawingml/2006/main">
              <a:ext uri="{FF2B5EF4-FFF2-40B4-BE49-F238E27FC236}">
                <a16:creationId xmlns:a16="http://schemas.microsoft.com/office/drawing/2014/main" id="{F66F0C54-84B8-4E90-B9E6-20F460425E54}"/>
              </a:ext>
            </a:extLst>
          </p:cNvPr>
          <p:cNvSpPr>
            <a:spLocks xmlns:a="http://schemas.openxmlformats.org/drawingml/2006/main" noGrp="1"/>
          </p:cNvSpPr>
          <p:nvPr/>
        </p:nvSpPr>
        <p:spPr>
          <a:xfrm xmlns:a="http://schemas.openxmlformats.org/drawingml/2006/main">
            <a:off x="8134350" y="5219700"/>
            <a:ext cx="342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E5BC83"/>
                </a:solidFill>
                <a:latin typeface="Arial"/>
                <a:ea typeface="Arial"/>
                <a:cs typeface="Arial"/>
              </a:defRPr>
            </a:defPPr>
          </a:lstStyle>
          <a:p xmlns:a="http://schemas.openxmlformats.org/drawingml/2006/main">
            <a:pPr>
              <a:defRPr sz="1950" b="1">
                <a:solidFill>
                  <a:srgbClr val="E5BC83"/>
                </a:solidFill>
                <a:latin typeface="Arial"/>
                <a:ea typeface="Arial"/>
                <a:cs typeface="Arial"/>
              </a:defRPr>
            </a:pPr>
            <a:r>
              <a:rPr sz="1950" b="1">
                <a:solidFill>
                  <a:srgbClr val="E5BC83"/>
                </a:solidFill>
                <a:latin typeface="Arial"/>
                <a:ea typeface="Arial"/>
                <a:cs typeface="Arial"/>
              </a:rPr>
              <a:t>Human webcam trials: 0</a:t>
            </a:r>
          </a:p>
          <a:p xmlns:a="http://schemas.openxmlformats.org/drawingml/2006/main">
            <a:pPr>
              <a:defRPr sz="1950" b="1">
                <a:solidFill>
                  <a:srgbClr val="E5BC83"/>
                </a:solidFill>
                <a:latin typeface="Arial"/>
                <a:ea typeface="Arial"/>
                <a:cs typeface="Arial"/>
              </a:defRPr>
            </a:pPr>
            <a:r>
              <a:rPr sz="1950" b="1">
                <a:solidFill>
                  <a:srgbClr val="E5BC83"/>
                </a:solidFill>
                <a:latin typeface="Arial"/>
                <a:ea typeface="Arial"/>
                <a:cs typeface="Arial"/>
              </a:rPr>
              <a:t>Accuracy and live latency:</a:t>
            </a:r>
          </a:p>
          <a:p xmlns:a="http://schemas.openxmlformats.org/drawingml/2006/main">
            <a:pPr>
              <a:defRPr sz="1950" b="1">
                <a:solidFill>
                  <a:srgbClr val="E5BC83"/>
                </a:solidFill>
                <a:latin typeface="Arial"/>
                <a:ea typeface="Arial"/>
                <a:cs typeface="Arial"/>
              </a:defRPr>
            </a:pPr>
            <a:r>
              <a:rPr sz="1950" b="1">
                <a:solidFill>
                  <a:srgbClr val="E5BC83"/>
                </a:solidFill>
                <a:latin typeface="Arial"/>
                <a:ea typeface="Arial"/>
                <a:cs typeface="Arial"/>
              </a:rPr>
              <a:t>unmeasured</a:t>
            </a:r>
          </a:p>
        </p:txBody>
      </p:sp>
    </p:spTree>
    <p:extLst>
      <p:ext uri="{BB962C8B-B14F-4D97-AF65-F5344CB8AC3E}">
        <p14:creationId xmlns:p14="http://schemas.microsoft.com/office/powerpoint/2010/main" val="1468927175"/>
      </p:ext>
    </p:extLst>
  </p:cSld>
</p:sld>
</file>

<file path=ppt/slides/slide5.xml><?xml version="1.0" encoding="utf-8"?>
<p:sld xmlns:p="http://schemas.openxmlformats.org/presentationml/2006/main">
  <p:cSld>
    <p:bg>
      <p:bgPr>
        <a:solidFill xmlns:a="http://schemas.openxmlformats.org/drawingml/2006/main">
          <a:srgbClr val="101C1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F161506-43FF-4D00-A5B0-39FE891A102F}"/>
              </a:ext>
            </a:extLst>
          </p:cNvPr>
          <p:cNvSpPr>
            <a:spLocks xmlns:a="http://schemas.openxmlformats.org/drawingml/2006/main" noGrp="1"/>
          </p:cNvSpPr>
          <p:nvPr/>
        </p:nvSpPr>
        <p:spPr>
          <a:xfrm xmlns:a="http://schemas.openxmlformats.org/drawingml/2006/main">
            <a:off x="609600" y="495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F5F5EB"/>
                </a:solidFill>
                <a:latin typeface="Arial"/>
                <a:ea typeface="Arial"/>
                <a:cs typeface="Arial"/>
              </a:defRPr>
            </a:defPPr>
          </a:lstStyle>
          <a:p xmlns:a="http://schemas.openxmlformats.org/drawingml/2006/main">
            <a:pPr>
              <a:defRPr sz="3600" b="1">
                <a:solidFill>
                  <a:srgbClr val="F5F5EB"/>
                </a:solidFill>
                <a:latin typeface="Arial"/>
                <a:ea typeface="Arial"/>
                <a:cs typeface="Arial"/>
              </a:defRPr>
            </a:pPr>
            <a:r>
              <a:rPr sz="3600" b="1">
                <a:solidFill>
                  <a:srgbClr val="F5F5EB"/>
                </a:solidFill>
                <a:latin typeface="Arial"/>
                <a:ea typeface="Arial"/>
                <a:cs typeface="Arial"/>
              </a:rPr>
              <a:t>Proposed supervised KRU pilot</a:t>
            </a:r>
          </a:p>
        </p:txBody>
      </p:sp>
      <p:sp>
        <p:nvSpPr>
          <p:cNvPr id="2" name="">
            <a:extLst xmlns:a="http://schemas.openxmlformats.org/drawingml/2006/main">
              <a:ext uri="{FF2B5EF4-FFF2-40B4-BE49-F238E27FC236}">
                <a16:creationId xmlns:a16="http://schemas.microsoft.com/office/drawing/2014/main" id="{C808BE47-E253-4A3A-9C7D-7F1D2069C1F8}"/>
              </a:ext>
            </a:extLst>
          </p:cNvPr>
          <p:cNvSpPr>
            <a:spLocks xmlns:a="http://schemas.openxmlformats.org/drawingml/2006/main" noGrp="1"/>
          </p:cNvSpPr>
          <p:nvPr/>
        </p:nvSpPr>
        <p:spPr>
          <a:xfrm xmlns:a="http://schemas.openxmlformats.org/drawingml/2006/main">
            <a:off x="11239500" y="62579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BDC9BF"/>
                </a:solidFill>
                <a:latin typeface="Arial"/>
                <a:ea typeface="Arial"/>
                <a:cs typeface="Arial"/>
              </a:defRPr>
            </a:defPPr>
          </a:lstStyle>
          <a:p xmlns:a="http://schemas.openxmlformats.org/drawingml/2006/main">
            <a:pPr>
              <a:defRPr sz="1350" b="0">
                <a:solidFill>
                  <a:srgbClr val="BDC9BF"/>
                </a:solidFill>
                <a:latin typeface="Arial"/>
                <a:ea typeface="Arial"/>
                <a:cs typeface="Arial"/>
              </a:defRPr>
            </a:pPr>
            <a:r>
              <a:rPr sz="1350" b="0">
                <a:solidFill>
                  <a:srgbClr val="BDC9B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1A28820-508E-4B9E-96FB-19C49FED4A1B}"/>
              </a:ext>
            </a:extLst>
          </p:cNvPr>
          <p:cNvSpPr>
            <a:spLocks xmlns:a="http://schemas.openxmlformats.org/drawingml/2006/main" noGrp="1"/>
          </p:cNvSpPr>
          <p:nvPr/>
        </p:nvSpPr>
        <p:spPr>
          <a:xfrm xmlns:a="http://schemas.openxmlformats.org/drawingml/2006/main">
            <a:off x="609600" y="176212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050" b="1">
                <a:solidFill>
                  <a:srgbClr val="C2EF7A"/>
                </a:solidFill>
                <a:latin typeface="Arial"/>
                <a:ea typeface="Arial"/>
                <a:cs typeface="Arial"/>
              </a:defRPr>
            </a:defPPr>
          </a:lstStyle>
          <a:p xmlns:a="http://schemas.openxmlformats.org/drawingml/2006/main">
            <a:pPr>
              <a:defRPr sz="4050" b="1">
                <a:solidFill>
                  <a:srgbClr val="C2EF7A"/>
                </a:solidFill>
                <a:latin typeface="Arial"/>
                <a:ea typeface="Arial"/>
                <a:cs typeface="Arial"/>
              </a:defRPr>
            </a:pPr>
            <a:r>
              <a:rPr sz="4050" b="1">
                <a:solidFill>
                  <a:srgbClr val="C2EF7A"/>
                </a:solidFill>
                <a:latin typeface="Arial"/>
                <a:ea typeface="Arial"/>
                <a:cs typeface="Arial"/>
              </a:rPr>
              <a:t>5 volunteers</a:t>
            </a:r>
          </a:p>
        </p:txBody>
      </p:sp>
      <p:sp>
        <p:nvSpPr>
          <p:cNvPr id="4" name="">
            <a:extLst xmlns:a="http://schemas.openxmlformats.org/drawingml/2006/main">
              <a:ext uri="{FF2B5EF4-FFF2-40B4-BE49-F238E27FC236}">
                <a16:creationId xmlns:a16="http://schemas.microsoft.com/office/drawing/2014/main" id="{8A365C60-434B-4399-BAC0-ED44D14C973B}"/>
              </a:ext>
            </a:extLst>
          </p:cNvPr>
          <p:cNvSpPr>
            <a:spLocks xmlns:a="http://schemas.openxmlformats.org/drawingml/2006/main" noGrp="1"/>
          </p:cNvSpPr>
          <p:nvPr/>
        </p:nvSpPr>
        <p:spPr>
          <a:xfrm xmlns:a="http://schemas.openxmlformats.org/drawingml/2006/main">
            <a:off x="4362450" y="17621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050" b="1">
                <a:solidFill>
                  <a:srgbClr val="C2EF7A"/>
                </a:solidFill>
                <a:latin typeface="Arial"/>
                <a:ea typeface="Arial"/>
                <a:cs typeface="Arial"/>
              </a:defRPr>
            </a:defPPr>
          </a:lstStyle>
          <a:p xmlns:a="http://schemas.openxmlformats.org/drawingml/2006/main">
            <a:pPr>
              <a:defRPr sz="4050" b="1">
                <a:solidFill>
                  <a:srgbClr val="C2EF7A"/>
                </a:solidFill>
                <a:latin typeface="Arial"/>
                <a:ea typeface="Arial"/>
                <a:cs typeface="Arial"/>
              </a:defRPr>
            </a:pPr>
            <a:r>
              <a:rPr sz="4050" b="1">
                <a:solidFill>
                  <a:srgbClr val="C2EF7A"/>
                </a:solidFill>
                <a:latin typeface="Arial"/>
                <a:ea typeface="Arial"/>
                <a:cs typeface="Arial"/>
              </a:rPr>
              <a:t>2 Windows laptops</a:t>
            </a:r>
          </a:p>
        </p:txBody>
      </p:sp>
      <p:sp>
        <p:nvSpPr>
          <p:cNvPr id="5" name="">
            <a:extLst xmlns:a="http://schemas.openxmlformats.org/drawingml/2006/main">
              <a:ext uri="{FF2B5EF4-FFF2-40B4-BE49-F238E27FC236}">
                <a16:creationId xmlns:a16="http://schemas.microsoft.com/office/drawing/2014/main" id="{D4AE7756-32A4-4A1A-B33B-6E477E7C2772}"/>
              </a:ext>
            </a:extLst>
          </p:cNvPr>
          <p:cNvSpPr>
            <a:spLocks xmlns:a="http://schemas.openxmlformats.org/drawingml/2006/main" noGrp="1"/>
          </p:cNvSpPr>
          <p:nvPr/>
        </p:nvSpPr>
        <p:spPr>
          <a:xfrm xmlns:a="http://schemas.openxmlformats.org/drawingml/2006/main">
            <a:off x="609600" y="25717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0">
                <a:solidFill>
                  <a:srgbClr val="F5F5EB"/>
                </a:solidFill>
                <a:latin typeface="Arial"/>
                <a:ea typeface="Arial"/>
                <a:cs typeface="Arial"/>
              </a:defRPr>
            </a:defPPr>
          </a:lstStyle>
          <a:p xmlns:a="http://schemas.openxmlformats.org/drawingml/2006/main">
            <a:pPr>
              <a:defRPr sz="2400" b="0">
                <a:solidFill>
                  <a:srgbClr val="F5F5EB"/>
                </a:solidFill>
                <a:latin typeface="Arial"/>
                <a:ea typeface="Arial"/>
                <a:cs typeface="Arial"/>
              </a:defRPr>
            </a:pPr>
            <a:r>
              <a:rPr sz="2400" b="0">
                <a:solidFill>
                  <a:srgbClr val="F5F5EB"/>
                </a:solidFill>
                <a:latin typeface="Arial"/>
                <a:ea typeface="Arial"/>
                <a:cs typeface="Arial"/>
              </a:rPr>
              <a:t>20-minute practice sessions with a teacher present</a:t>
            </a:r>
          </a:p>
        </p:txBody>
      </p:sp>
      <p:sp>
        <p:nvSpPr>
          <p:cNvPr id="6" name="">
            <a:extLst xmlns:a="http://schemas.openxmlformats.org/drawingml/2006/main">
              <a:ext uri="{FF2B5EF4-FFF2-40B4-BE49-F238E27FC236}">
                <a16:creationId xmlns:a16="http://schemas.microsoft.com/office/drawing/2014/main" id="{72A10BDD-3775-47D3-BF39-12D23007C46E}"/>
              </a:ext>
            </a:extLst>
          </p:cNvPr>
          <p:cNvSpPr>
            <a:spLocks xmlns:a="http://schemas.openxmlformats.org/drawingml/2006/main" noGrp="1"/>
          </p:cNvSpPr>
          <p:nvPr/>
        </p:nvSpPr>
        <p:spPr>
          <a:xfrm xmlns:a="http://schemas.openxmlformats.org/drawingml/2006/main">
            <a:off x="609600" y="3524250"/>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C2EF7A"/>
                </a:solidFill>
                <a:latin typeface="Arial"/>
                <a:ea typeface="Arial"/>
                <a:cs typeface="Arial"/>
              </a:defRPr>
            </a:defPPr>
          </a:lstStyle>
          <a:p xmlns:a="http://schemas.openxmlformats.org/drawingml/2006/main">
            <a:pPr>
              <a:defRPr sz="2325" b="1">
                <a:solidFill>
                  <a:srgbClr val="C2EF7A"/>
                </a:solidFill>
                <a:latin typeface="Arial"/>
                <a:ea typeface="Arial"/>
                <a:cs typeface="Arial"/>
              </a:defRPr>
            </a:pPr>
            <a:r>
              <a:rPr sz="2325" b="1">
                <a:solidFill>
                  <a:srgbClr val="C2EF7A"/>
                </a:solidFill>
                <a:latin typeface="Arial"/>
                <a:ea typeface="Arial"/>
                <a:cs typeface="Arial"/>
              </a:rPr>
              <a:t>Measure</a:t>
            </a:r>
          </a:p>
        </p:txBody>
      </p:sp>
      <p:sp>
        <p:nvSpPr>
          <p:cNvPr id="7" name="">
            <a:extLst xmlns:a="http://schemas.openxmlformats.org/drawingml/2006/main">
              <a:ext uri="{FF2B5EF4-FFF2-40B4-BE49-F238E27FC236}">
                <a16:creationId xmlns:a16="http://schemas.microsoft.com/office/drawing/2014/main" id="{FD7B1B15-959D-4A96-8839-CF8ACAF29C30}"/>
              </a:ext>
            </a:extLst>
          </p:cNvPr>
          <p:cNvSpPr>
            <a:spLocks xmlns:a="http://schemas.openxmlformats.org/drawingml/2006/main" noGrp="1"/>
          </p:cNvSpPr>
          <p:nvPr/>
        </p:nvSpPr>
        <p:spPr>
          <a:xfrm xmlns:a="http://schemas.openxmlformats.org/drawingml/2006/main">
            <a:off x="609600" y="4143375"/>
            <a:ext cx="5619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F5F5EB"/>
                </a:solidFill>
                <a:latin typeface="Arial"/>
                <a:ea typeface="Arial"/>
                <a:cs typeface="Arial"/>
              </a:defRPr>
            </a:defPPr>
          </a:lstStyle>
          <a:p xmlns:a="http://schemas.openxmlformats.org/drawingml/2006/main">
            <a:pPr>
              <a:defRPr sz="2175" b="0">
                <a:solidFill>
                  <a:srgbClr val="F5F5EB"/>
                </a:solidFill>
                <a:latin typeface="Arial"/>
                <a:ea typeface="Arial"/>
                <a:cs typeface="Arial"/>
              </a:defRPr>
            </a:pPr>
            <a:r>
              <a:rPr sz="2175" b="0">
                <a:solidFill>
                  <a:srgbClr val="F5F5EB"/>
                </a:solidFill>
                <a:latin typeface="Arial"/>
                <a:ea typeface="Arial"/>
                <a:cs typeface="Arial"/>
              </a:rPr>
              <a:t>Scenario misses and false alerts</a:t>
            </a:r>
          </a:p>
          <a:p xmlns:a="http://schemas.openxmlformats.org/drawingml/2006/main">
            <a:pPr>
              <a:defRPr sz="2175" b="0">
                <a:solidFill>
                  <a:srgbClr val="F5F5EB"/>
                </a:solidFill>
                <a:latin typeface="Arial"/>
                <a:ea typeface="Arial"/>
                <a:cs typeface="Arial"/>
              </a:defRPr>
            </a:pPr>
            <a:r>
              <a:rPr sz="2175" b="0">
                <a:solidFill>
                  <a:srgbClr val="F5F5EB"/>
                </a:solidFill>
                <a:latin typeface="Arial"/>
                <a:ea typeface="Arial"/>
                <a:cs typeface="Arial"/>
              </a:rPr>
              <a:t>Processing and cue-to-alert delay</a:t>
            </a:r>
          </a:p>
          <a:p xmlns:a="http://schemas.openxmlformats.org/drawingml/2006/main">
            <a:pPr>
              <a:defRPr sz="2175" b="0">
                <a:solidFill>
                  <a:srgbClr val="F5F5EB"/>
                </a:solidFill>
                <a:latin typeface="Arial"/>
                <a:ea typeface="Arial"/>
                <a:cs typeface="Arial"/>
              </a:defRPr>
            </a:pPr>
            <a:r>
              <a:rPr sz="2175" b="0">
                <a:solidFill>
                  <a:srgbClr val="F5F5EB"/>
                </a:solidFill>
                <a:latin typeface="Arial"/>
                <a:ea typeface="Arial"/>
                <a:cs typeface="Arial"/>
              </a:rPr>
              <a:t>Release success and reviewer time</a:t>
            </a:r>
          </a:p>
        </p:txBody>
      </p:sp>
      <p:sp>
        <p:nvSpPr>
          <p:cNvPr id="8" name="">
            <a:extLst xmlns:a="http://schemas.openxmlformats.org/drawingml/2006/main">
              <a:ext uri="{FF2B5EF4-FFF2-40B4-BE49-F238E27FC236}">
                <a16:creationId xmlns:a16="http://schemas.microsoft.com/office/drawing/2014/main" id="{8CCFE87B-F187-436A-9A4F-3D9A50B9A7C0}"/>
              </a:ext>
            </a:extLst>
          </p:cNvPr>
          <p:cNvSpPr>
            <a:spLocks xmlns:a="http://schemas.openxmlformats.org/drawingml/2006/main" noGrp="1"/>
          </p:cNvSpPr>
          <p:nvPr/>
        </p:nvSpPr>
        <p:spPr>
          <a:xfrm xmlns:a="http://schemas.openxmlformats.org/drawingml/2006/main">
            <a:off x="6838950" y="3524250"/>
            <a:ext cx="4714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C2EF7A"/>
                </a:solidFill>
                <a:latin typeface="Arial"/>
                <a:ea typeface="Arial"/>
                <a:cs typeface="Arial"/>
              </a:defRPr>
            </a:defPPr>
          </a:lstStyle>
          <a:p xmlns:a="http://schemas.openxmlformats.org/drawingml/2006/main">
            <a:pPr>
              <a:defRPr sz="2325" b="1">
                <a:solidFill>
                  <a:srgbClr val="C2EF7A"/>
                </a:solidFill>
                <a:latin typeface="Arial"/>
                <a:ea typeface="Arial"/>
                <a:cs typeface="Arial"/>
              </a:defRPr>
            </a:pPr>
            <a:r>
              <a:rPr sz="2325" b="1">
                <a:solidFill>
                  <a:srgbClr val="C2EF7A"/>
                </a:solidFill>
                <a:latin typeface="Arial"/>
                <a:ea typeface="Arial"/>
                <a:cs typeface="Arial"/>
              </a:rPr>
              <a:t>Conditions</a:t>
            </a:r>
          </a:p>
        </p:txBody>
      </p:sp>
      <p:sp>
        <p:nvSpPr>
          <p:cNvPr id="9" name="">
            <a:extLst xmlns:a="http://schemas.openxmlformats.org/drawingml/2006/main">
              <a:ext uri="{FF2B5EF4-FFF2-40B4-BE49-F238E27FC236}">
                <a16:creationId xmlns:a16="http://schemas.microsoft.com/office/drawing/2014/main" id="{12147503-3FA3-4F89-9BC3-97DFD6F3CF8A}"/>
              </a:ext>
            </a:extLst>
          </p:cNvPr>
          <p:cNvSpPr>
            <a:spLocks xmlns:a="http://schemas.openxmlformats.org/drawingml/2006/main" noGrp="1"/>
          </p:cNvSpPr>
          <p:nvPr/>
        </p:nvSpPr>
        <p:spPr>
          <a:xfrm xmlns:a="http://schemas.openxmlformats.org/drawingml/2006/main">
            <a:off x="6838950" y="4143375"/>
            <a:ext cx="47339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F5F5EB"/>
                </a:solidFill>
                <a:latin typeface="Arial"/>
                <a:ea typeface="Arial"/>
                <a:cs typeface="Arial"/>
              </a:defRPr>
            </a:defPPr>
          </a:lstStyle>
          <a:p xmlns:a="http://schemas.openxmlformats.org/drawingml/2006/main">
            <a:pPr>
              <a:defRPr sz="2175" b="0">
                <a:solidFill>
                  <a:srgbClr val="F5F5EB"/>
                </a:solidFill>
                <a:latin typeface="Arial"/>
                <a:ea typeface="Arial"/>
                <a:cs typeface="Arial"/>
              </a:defRPr>
            </a:pPr>
            <a:r>
              <a:rPr sz="2175" b="0">
                <a:solidFill>
                  <a:srgbClr val="F5F5EB"/>
                </a:solidFill>
                <a:latin typeface="Arial"/>
                <a:ea typeface="Arial"/>
                <a:cs typeface="Arial"/>
              </a:rPr>
              <a:t>Consent and accommodations</a:t>
            </a:r>
          </a:p>
          <a:p xmlns:a="http://schemas.openxmlformats.org/drawingml/2006/main">
            <a:pPr>
              <a:defRPr sz="2175" b="0">
                <a:solidFill>
                  <a:srgbClr val="F5F5EB"/>
                </a:solidFill>
                <a:latin typeface="Arial"/>
                <a:ea typeface="Arial"/>
                <a:cs typeface="Arial"/>
              </a:defRPr>
            </a:pPr>
            <a:r>
              <a:rPr sz="2175" b="0">
                <a:solidFill>
                  <a:srgbClr val="F5F5EB"/>
                </a:solidFill>
                <a:latin typeface="Arial"/>
                <a:ea typeface="Arial"/>
                <a:cs typeface="Arial"/>
              </a:rPr>
              <a:t>Human review without penalties</a:t>
            </a:r>
          </a:p>
          <a:p xmlns:a="http://schemas.openxmlformats.org/drawingml/2006/main">
            <a:pPr>
              <a:defRPr sz="2175" b="0">
                <a:solidFill>
                  <a:srgbClr val="F5F5EB"/>
                </a:solidFill>
                <a:latin typeface="Arial"/>
                <a:ea typeface="Arial"/>
                <a:cs typeface="Arial"/>
              </a:defRPr>
            </a:pPr>
            <a:r>
              <a:rPr sz="2175" b="0">
                <a:solidFill>
                  <a:srgbClr val="F5F5EB"/>
                </a:solidFill>
                <a:latin typeface="Arial"/>
                <a:ea typeface="Arial"/>
                <a:cs typeface="Arial"/>
              </a:rPr>
              <a:t>Agreed storage and deletion</a:t>
            </a:r>
          </a:p>
        </p:txBody>
      </p:sp>
      <p:sp>
        <p:nvSpPr>
          <p:cNvPr id="10" name="">
            <a:extLst xmlns:a="http://schemas.openxmlformats.org/drawingml/2006/main">
              <a:ext uri="{FF2B5EF4-FFF2-40B4-BE49-F238E27FC236}">
                <a16:creationId xmlns:a16="http://schemas.microsoft.com/office/drawing/2014/main" id="{75556E0B-4515-4B36-A127-F3F0F0C137EF}"/>
              </a:ext>
            </a:extLst>
          </p:cNvPr>
          <p:cNvSpPr>
            <a:spLocks xmlns:a="http://schemas.openxmlformats.org/drawingml/2006/main" noGrp="1"/>
          </p:cNvSpPr>
          <p:nvPr/>
        </p:nvSpPr>
        <p:spPr>
          <a:xfrm xmlns:a="http://schemas.openxmlformats.org/drawingml/2006/main">
            <a:off x="609600" y="59340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E5BC83"/>
                </a:solidFill>
                <a:latin typeface="Arial"/>
                <a:ea typeface="Arial"/>
                <a:cs typeface="Arial"/>
              </a:defRPr>
            </a:defPPr>
          </a:lstStyle>
          <a:p xmlns:a="http://schemas.openxmlformats.org/drawingml/2006/main">
            <a:pPr>
              <a:defRPr sz="1800" b="0">
                <a:solidFill>
                  <a:srgbClr val="E5BC83"/>
                </a:solidFill>
                <a:latin typeface="Arial"/>
                <a:ea typeface="Arial"/>
                <a:cs typeface="Arial"/>
              </a:defRPr>
            </a:pPr>
            <a:r>
              <a:rPr sz="1800" b="0">
                <a:solidFill>
                  <a:srgbClr val="E5BC83"/>
                </a:solidFill>
                <a:latin typeface="Arial"/>
                <a:ea typeface="Arial"/>
                <a:cs typeface="Arial"/>
              </a:rPr>
              <a:t>Hypotheses: less footage transfer and faster review. No pilot has been completed.</a:t>
            </a:r>
          </a:p>
        </p:txBody>
      </p:sp>
    </p:spTree>
    <p:extLst>
      <p:ext uri="{BB962C8B-B14F-4D97-AF65-F5344CB8AC3E}">
        <p14:creationId xmlns:p14="http://schemas.microsoft.com/office/powerpoint/2010/main" val="1305896834"/>
      </p:ext>
    </p:extLst>
  </p:cSld>
</p:sld>
</file>

<file path=ppt/slides/slide6.xml><?xml version="1.0" encoding="utf-8"?>
<p:sld xmlns:p="http://schemas.openxmlformats.org/presentationml/2006/main">
  <p:cSld>
    <p:bg>
      <p:bgPr>
        <a:solidFill xmlns:a="http://schemas.openxmlformats.org/drawingml/2006/main">
          <a:srgbClr val="101C1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FDDE50-C862-4A8D-83DC-AEA0A88593D8}"/>
              </a:ext>
            </a:extLst>
          </p:cNvPr>
          <p:cNvSpPr>
            <a:spLocks xmlns:a="http://schemas.openxmlformats.org/drawingml/2006/main" noGrp="1"/>
          </p:cNvSpPr>
          <p:nvPr/>
        </p:nvSpPr>
        <p:spPr>
          <a:xfrm xmlns:a="http://schemas.openxmlformats.org/drawingml/2006/main">
            <a:off x="609600" y="495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F5F5EB"/>
                </a:solidFill>
                <a:latin typeface="Arial"/>
                <a:ea typeface="Arial"/>
                <a:cs typeface="Arial"/>
              </a:defRPr>
            </a:defPPr>
          </a:lstStyle>
          <a:p xmlns:a="http://schemas.openxmlformats.org/drawingml/2006/main">
            <a:pPr>
              <a:defRPr sz="3600" b="1">
                <a:solidFill>
                  <a:srgbClr val="F5F5EB"/>
                </a:solidFill>
                <a:latin typeface="Arial"/>
                <a:ea typeface="Arial"/>
                <a:cs typeface="Arial"/>
              </a:defRPr>
            </a:pPr>
            <a:r>
              <a:rPr sz="3600" b="1">
                <a:solidFill>
                  <a:srgbClr val="F5F5EB"/>
                </a:solidFill>
                <a:latin typeface="Arial"/>
                <a:ea typeface="Arial"/>
                <a:cs typeface="Arial"/>
              </a:rPr>
              <a:t>Limitations and next steps</a:t>
            </a:r>
          </a:p>
        </p:txBody>
      </p:sp>
      <p:sp>
        <p:nvSpPr>
          <p:cNvPr id="2" name="">
            <a:extLst xmlns:a="http://schemas.openxmlformats.org/drawingml/2006/main">
              <a:ext uri="{FF2B5EF4-FFF2-40B4-BE49-F238E27FC236}">
                <a16:creationId xmlns:a16="http://schemas.microsoft.com/office/drawing/2014/main" id="{D05C6FA3-CCE3-4792-8F3B-A4111E83A3B0}"/>
              </a:ext>
            </a:extLst>
          </p:cNvPr>
          <p:cNvSpPr>
            <a:spLocks xmlns:a="http://schemas.openxmlformats.org/drawingml/2006/main" noGrp="1"/>
          </p:cNvSpPr>
          <p:nvPr/>
        </p:nvSpPr>
        <p:spPr>
          <a:xfrm xmlns:a="http://schemas.openxmlformats.org/drawingml/2006/main">
            <a:off x="11239500" y="62579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BDC9BF"/>
                </a:solidFill>
                <a:latin typeface="Arial"/>
                <a:ea typeface="Arial"/>
                <a:cs typeface="Arial"/>
              </a:defRPr>
            </a:defPPr>
          </a:lstStyle>
          <a:p xmlns:a="http://schemas.openxmlformats.org/drawingml/2006/main">
            <a:pPr>
              <a:defRPr sz="1350" b="0">
                <a:solidFill>
                  <a:srgbClr val="BDC9BF"/>
                </a:solidFill>
                <a:latin typeface="Arial"/>
                <a:ea typeface="Arial"/>
                <a:cs typeface="Arial"/>
              </a:defRPr>
            </a:pPr>
            <a:r>
              <a:rPr sz="1350" b="0">
                <a:solidFill>
                  <a:srgbClr val="BDC9B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64CC549E-4525-45C2-9420-791594E588FF}"/>
              </a:ext>
            </a:extLst>
          </p:cNvPr>
          <p:cNvSpPr>
            <a:spLocks xmlns:a="http://schemas.openxmlformats.org/drawingml/2006/main" noGrp="1"/>
          </p:cNvSpPr>
          <p:nvPr/>
        </p:nvSpPr>
        <p:spPr>
          <a:xfrm xmlns:a="http://schemas.openxmlformats.org/drawingml/2006/main">
            <a:off x="609600" y="16573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C2EF7A"/>
                </a:solidFill>
                <a:latin typeface="Arial"/>
                <a:ea typeface="Arial"/>
                <a:cs typeface="Arial"/>
              </a:defRPr>
            </a:defPPr>
          </a:lstStyle>
          <a:p xmlns:a="http://schemas.openxmlformats.org/drawingml/2006/main">
            <a:pPr>
              <a:defRPr sz="2400" b="1">
                <a:solidFill>
                  <a:srgbClr val="C2EF7A"/>
                </a:solidFill>
                <a:latin typeface="Arial"/>
                <a:ea typeface="Arial"/>
                <a:cs typeface="Arial"/>
              </a:defRPr>
            </a:pPr>
            <a:r>
              <a:rPr sz="2400" b="1">
                <a:solidFill>
                  <a:srgbClr val="C2EF7A"/>
                </a:solidFill>
                <a:latin typeface="Arial"/>
                <a:ea typeface="Arial"/>
                <a:cs typeface="Arial"/>
              </a:rPr>
              <a:t>Known limits</a:t>
            </a:r>
          </a:p>
        </p:txBody>
      </p:sp>
      <p:sp>
        <p:nvSpPr>
          <p:cNvPr id="4" name="">
            <a:extLst xmlns:a="http://schemas.openxmlformats.org/drawingml/2006/main">
              <a:ext uri="{FF2B5EF4-FFF2-40B4-BE49-F238E27FC236}">
                <a16:creationId xmlns:a16="http://schemas.microsoft.com/office/drawing/2014/main" id="{FDAA4F09-67D0-4393-93E2-C80C9F096591}"/>
              </a:ext>
            </a:extLst>
          </p:cNvPr>
          <p:cNvSpPr>
            <a:spLocks xmlns:a="http://schemas.openxmlformats.org/drawingml/2006/main" noGrp="1"/>
          </p:cNvSpPr>
          <p:nvPr/>
        </p:nvSpPr>
        <p:spPr>
          <a:xfrm xmlns:a="http://schemas.openxmlformats.org/drawingml/2006/main">
            <a:off x="609600" y="2305050"/>
            <a:ext cx="10763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F5F5EB"/>
                </a:solidFill>
                <a:latin typeface="Arial"/>
                <a:ea typeface="Arial"/>
                <a:cs typeface="Arial"/>
              </a:defRPr>
            </a:defPPr>
          </a:lstStyle>
          <a:p xmlns:a="http://schemas.openxmlformats.org/drawingml/2006/main">
            <a:pPr>
              <a:defRPr sz="2325" b="0">
                <a:solidFill>
                  <a:srgbClr val="F5F5EB"/>
                </a:solidFill>
                <a:latin typeface="Arial"/>
                <a:ea typeface="Arial"/>
                <a:cs typeface="Arial"/>
              </a:defRPr>
            </a:pPr>
            <a:r>
              <a:rPr sz="2325" b="0">
                <a:solidFill>
                  <a:srgbClr val="F5F5EB"/>
                </a:solidFill>
                <a:latin typeface="Arial"/>
                <a:ea typeface="Arial"/>
                <a:cs typeface="Arial"/>
              </a:rPr>
              <a:t>Gaze is a coarse calibrated proxy.</a:t>
            </a:r>
          </a:p>
          <a:p xmlns:a="http://schemas.openxmlformats.org/drawingml/2006/main">
            <a:pPr>
              <a:defRPr sz="2325" b="0">
                <a:solidFill>
                  <a:srgbClr val="F5F5EB"/>
                </a:solidFill>
                <a:latin typeface="Arial"/>
                <a:ea typeface="Arial"/>
                <a:cs typeface="Arial"/>
              </a:defRPr>
            </a:pPr>
            <a:r>
              <a:rPr sz="2325" b="0">
                <a:solidFill>
                  <a:srgbClr val="F5F5EB"/>
                </a:solidFill>
                <a:latin typeface="Arial"/>
                <a:ea typeface="Arial"/>
                <a:cs typeface="Arial"/>
              </a:rPr>
              <a:t>A raised phone cannot prove photography.</a:t>
            </a:r>
          </a:p>
          <a:p xmlns:a="http://schemas.openxmlformats.org/drawingml/2006/main">
            <a:pPr>
              <a:defRPr sz="2325" b="0">
                <a:solidFill>
                  <a:srgbClr val="F5F5EB"/>
                </a:solidFill>
                <a:latin typeface="Arial"/>
                <a:ea typeface="Arial"/>
                <a:cs typeface="Arial"/>
              </a:defRPr>
            </a:pPr>
            <a:r>
              <a:rPr sz="2325" b="0">
                <a:solidFill>
                  <a:srgbClr val="F5F5EB"/>
                </a:solidFill>
                <a:latin typeface="Arial"/>
                <a:ea typeface="Arial"/>
                <a:cs typeface="Arial"/>
              </a:rPr>
              <a:t>Complete OS lockdown is unfinished.</a:t>
            </a:r>
          </a:p>
          <a:p xmlns:a="http://schemas.openxmlformats.org/drawingml/2006/main">
            <a:pPr>
              <a:defRPr sz="2325" b="0">
                <a:solidFill>
                  <a:srgbClr val="F5F5EB"/>
                </a:solidFill>
                <a:latin typeface="Arial"/>
                <a:ea typeface="Arial"/>
                <a:cs typeface="Arial"/>
              </a:defRPr>
            </a:pPr>
            <a:r>
              <a:rPr sz="2325" b="0">
                <a:solidFill>
                  <a:srgbClr val="F5F5EB"/>
                </a:solidFill>
                <a:latin typeface="Arial"/>
                <a:ea typeface="Arial"/>
                <a:cs typeface="Arial"/>
              </a:rPr>
              <a:t>Human detection tests remain pending.</a:t>
            </a:r>
          </a:p>
        </p:txBody>
      </p:sp>
      <p:sp>
        <p:nvSpPr>
          <p:cNvPr id="5" name="">
            <a:extLst xmlns:a="http://schemas.openxmlformats.org/drawingml/2006/main">
              <a:ext uri="{FF2B5EF4-FFF2-40B4-BE49-F238E27FC236}">
                <a16:creationId xmlns:a16="http://schemas.microsoft.com/office/drawing/2014/main" id="{6BD5775D-9E20-4F17-B0E5-5AD3C810D285}"/>
              </a:ext>
            </a:extLst>
          </p:cNvPr>
          <p:cNvSpPr>
            <a:spLocks xmlns:a="http://schemas.openxmlformats.org/drawingml/2006/main" noGrp="1"/>
          </p:cNvSpPr>
          <p:nvPr/>
        </p:nvSpPr>
        <p:spPr>
          <a:xfrm xmlns:a="http://schemas.openxmlformats.org/drawingml/2006/main">
            <a:off x="609600" y="44100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C2EF7A"/>
                </a:solidFill>
                <a:latin typeface="Arial"/>
                <a:ea typeface="Arial"/>
                <a:cs typeface="Arial"/>
              </a:defRPr>
            </a:defPPr>
          </a:lstStyle>
          <a:p xmlns:a="http://schemas.openxmlformats.org/drawingml/2006/main">
            <a:pPr>
              <a:defRPr sz="2250" b="1">
                <a:solidFill>
                  <a:srgbClr val="C2EF7A"/>
                </a:solidFill>
                <a:latin typeface="Arial"/>
                <a:ea typeface="Arial"/>
                <a:cs typeface="Arial"/>
              </a:defRPr>
            </a:pPr>
            <a:r>
              <a:rPr sz="2250" b="1">
                <a:solidFill>
                  <a:srgbClr val="C2EF7A"/>
                </a:solidFill>
                <a:latin typeface="Arial"/>
                <a:ea typeface="Arial"/>
                <a:cs typeface="Arial"/>
              </a:rPr>
              <a:t>External components and AI assistance</a:t>
            </a:r>
          </a:p>
        </p:txBody>
      </p:sp>
      <p:sp>
        <p:nvSpPr>
          <p:cNvPr id="6" name="">
            <a:extLst xmlns:a="http://schemas.openxmlformats.org/drawingml/2006/main">
              <a:ext uri="{FF2B5EF4-FFF2-40B4-BE49-F238E27FC236}">
                <a16:creationId xmlns:a16="http://schemas.microsoft.com/office/drawing/2014/main" id="{60A8BAA2-80F3-4024-89A8-5A7B89D4064A}"/>
              </a:ext>
            </a:extLst>
          </p:cNvPr>
          <p:cNvSpPr>
            <a:spLocks xmlns:a="http://schemas.openxmlformats.org/drawingml/2006/main" noGrp="1"/>
          </p:cNvSpPr>
          <p:nvPr/>
        </p:nvSpPr>
        <p:spPr>
          <a:xfrm xmlns:a="http://schemas.openxmlformats.org/drawingml/2006/main">
            <a:off x="609600" y="4943475"/>
            <a:ext cx="1081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BDC9BF"/>
                </a:solidFill>
                <a:latin typeface="Arial"/>
                <a:ea typeface="Arial"/>
                <a:cs typeface="Arial"/>
              </a:defRPr>
            </a:defPPr>
          </a:lstStyle>
          <a:p xmlns:a="http://schemas.openxmlformats.org/drawingml/2006/main">
            <a:pPr>
              <a:defRPr sz="1875" b="0">
                <a:solidFill>
                  <a:srgbClr val="BDC9BF"/>
                </a:solidFill>
                <a:latin typeface="Arial"/>
                <a:ea typeface="Arial"/>
                <a:cs typeface="Arial"/>
              </a:defRPr>
            </a:pPr>
            <a:r>
              <a:rPr sz="1875" b="0">
                <a:solidFill>
                  <a:srgbClr val="BDC9BF"/>
                </a:solidFill>
                <a:latin typeface="Arial"/>
                <a:ea typeface="Arial"/>
                <a:cs typeface="Arial"/>
              </a:rPr>
              <a:t>YOLOv8n / COCO, MediaPipe, OpenCV / PyTorch, FastAPI and Electron</a:t>
            </a:r>
          </a:p>
          <a:p xmlns:a="http://schemas.openxmlformats.org/drawingml/2006/main">
            <a:pPr>
              <a:defRPr sz="1875" b="0">
                <a:solidFill>
                  <a:srgbClr val="BDC9BF"/>
                </a:solidFill>
                <a:latin typeface="Arial"/>
                <a:ea typeface="Arial"/>
                <a:cs typeface="Arial"/>
              </a:defRPr>
            </a:pPr>
            <a:r>
              <a:rPr sz="1875" b="0">
                <a:solidFill>
                  <a:srgbClr val="BDC9BF"/>
                </a:solidFill>
                <a:latin typeface="Arial"/>
                <a:ea typeface="Arial"/>
                <a:cs typeface="Arial"/>
              </a:rPr>
              <a:t>Codex / ChatGPT assisted development and presentation preparation.</a:t>
            </a:r>
          </a:p>
        </p:txBody>
      </p:sp>
      <p:sp>
        <p:nvSpPr>
          <p:cNvPr id="7" name="">
            <a:extLst xmlns:a="http://schemas.openxmlformats.org/drawingml/2006/main">
              <a:ext uri="{FF2B5EF4-FFF2-40B4-BE49-F238E27FC236}">
                <a16:creationId xmlns:a16="http://schemas.microsoft.com/office/drawing/2014/main" id="{E2D47545-764E-4783-8E6A-53FF14D6FA5F}"/>
              </a:ext>
            </a:extLst>
          </p:cNvPr>
          <p:cNvSpPr>
            <a:spLocks xmlns:a="http://schemas.openxmlformats.org/drawingml/2006/main" noGrp="1"/>
          </p:cNvSpPr>
          <p:nvPr/>
        </p:nvSpPr>
        <p:spPr>
          <a:xfrm xmlns:a="http://schemas.openxmlformats.org/drawingml/2006/main">
            <a:off x="609600" y="60102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F5F5EB"/>
                </a:solidFill>
                <a:latin typeface="Arial"/>
                <a:ea typeface="Arial"/>
                <a:cs typeface="Arial"/>
              </a:defRPr>
            </a:defPPr>
          </a:lstStyle>
          <a:p xmlns:a="http://schemas.openxmlformats.org/drawingml/2006/main">
            <a:pPr>
              <a:defRPr sz="1950" b="0">
                <a:solidFill>
                  <a:srgbClr val="F5F5EB"/>
                </a:solidFill>
                <a:latin typeface="Arial"/>
                <a:ea typeface="Arial"/>
                <a:cs typeface="Arial"/>
              </a:defRPr>
            </a:pPr>
            <a:r>
              <a:rPr sz="1950" b="0">
                <a:solidFill>
                  <a:srgbClr val="F5F5EB"/>
                </a:solidFill>
                <a:latin typeface="Arial"/>
                <a:ea typeface="Arial"/>
                <a:cs typeface="Arial"/>
              </a:rPr>
              <a:t>Next: human validation, a supervised pilot and managed exam policies.</a:t>
            </a:r>
          </a:p>
        </p:txBody>
      </p:sp>
    </p:spTree>
    <p:extLst>
      <p:ext uri="{BB962C8B-B14F-4D97-AF65-F5344CB8AC3E}">
        <p14:creationId xmlns:p14="http://schemas.microsoft.com/office/powerpoint/2010/main" val="9089170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2026-10-08T16:31:44.9140000Z</dcterms:created>
  <dcterms:modified xsi:type="dcterms:W3CDTF">2026-10-08T16:31:44.9140000Z</dcterms:modified>
</coreProperties>
</file>